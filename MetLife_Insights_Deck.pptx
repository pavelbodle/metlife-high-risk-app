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8"/>
                </a:solidFill>
                <a:latin typeface="Calibri"/>
              </a:defRPr>
            </a:pPr>
            <a:r>
              <a:rPr sz="1300" b="0" i="0" u="none" strike="noStrike">
                <a:solidFill>
                  <a:srgbClr val="1B2A38"/>
                </a:solidFill>
                <a:latin typeface="Calibri"/>
              </a:rPr>
              <a:t>AUROC by model (higher = better)</a:t>
            </a:r>
          </a:p>
        </c:rich>
      </c:tx>
      <c:layout/>
      <c:overlay val="0"/>
    </c:title>
    <c:autoTitleDeleted val="0"/>
    <c:plotArea>
      <c:layout/>
      <c:barChart>
        <c:barDir val="col"/>
        <c:grouping val="clustered"/>
        <c:varyColors val="0"/>
        <c:ser>
          <c:idx val="0"/>
          <c:order val="0"/>
          <c:tx>
            <c:strRef>
              <c:f>Sheet1!$B$1</c:f>
              <c:strCache>
                <c:ptCount val="1"/>
                <c:pt idx="0">
                  <c:v>AUROC</c:v>
                </c:pt>
              </c:strCache>
            </c:strRef>
          </c:tx>
          <c:spPr>
            <a:solidFill>
              <a:srgbClr val="0090DA"/>
            </a:solidFill>
            <a:effectLst/>
          </c:spPr>
          <c:invertIfNegative val="0"/>
          <c:dLbls>
            <c:numFmt formatCode="0.000" sourceLinked="0"/>
            <c:txPr>
              <a:bodyPr/>
              <a:lstStyle/>
              <a:p>
                <a:pPr>
                  <a:defRPr b="0" i="0" strike="noStrike" sz="1100" u="none">
                    <a:solidFill>
                      <a:srgbClr val="1B2A38"/>
                    </a:solidFill>
                    <a:latin typeface="Arial"/>
                  </a:defRPr>
                </a:pPr>
              </a:p>
            </c:txPr>
            <c:showLegendKey val="0"/>
            <c:showVal val="1"/>
            <c:showCatName val="0"/>
            <c:showSerName val="0"/>
            <c:showPercent val="0"/>
            <c:showBubbleSize val="0"/>
            <c:showLeaderLines val="0"/>
          </c:dLbls>
          <c:cat>
            <c:multiLvlStrRef>
              <c:f>Sheet1!$A$2:$A$4</c:f>
              <c:multiLvlStrCache>
                <c:ptCount val="3"/>
                <c:lvl>
                  <c:pt idx="0">
                    <c:v>Logistic Reg.</c:v>
                  </c:pt>
                  <c:pt idx="1">
                    <c:v>Gradient Boost</c:v>
                  </c:pt>
                  <c:pt idx="2">
                    <c:v>Random Forest</c:v>
                  </c:pt>
                </c:lvl>
              </c:multiLvlStrCache>
            </c:multiLvlStrRef>
          </c:cat>
          <c:val>
            <c:numRef>
              <c:f>Sheet1!$B$2:$B$4</c:f>
              <c:numCache>
                <c:formatCode>General</c:formatCode>
                <c:ptCount val="3"/>
                <c:pt idx="0">
                  <c:v>0.7803</c:v>
                </c:pt>
                <c:pt idx="1">
                  <c:v>0.7796</c:v>
                </c:pt>
                <c:pt idx="2">
                  <c:v>0.7624</c:v>
                </c:pt>
              </c:numCache>
            </c:numRef>
          </c:val>
        </c:ser>
        <c:dLbls>
          <c:numFmt formatCode="0.000" sourceLinked="0"/>
          <c:txPr>
            <a:bodyPr/>
            <a:lstStyle/>
            <a:p>
              <a:pPr>
                <a:defRPr b="0" i="0" strike="noStrike" sz="1100" u="none">
                  <a:solidFill>
                    <a:srgbClr val="1B2A3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8"/>
                </a:solidFill>
                <a:latin typeface="Arial"/>
              </a:defRPr>
            </a:pPr>
            <a:endParaRPr lang="en-US"/>
          </a:p>
        </c:txPr>
        <c:crossAx val="2094734552"/>
        <c:crosses val="autoZero"/>
        <c:auto val="1"/>
        <c:lblAlgn val="ctr"/>
        <c:noMultiLvlLbl val="1"/>
      </c:catAx>
      <c:valAx>
        <c:axId val="2094734552"/>
        <c:scaling>
          <c:orientation val="minMax"/>
          <c:max val="0.8"/>
          <c:min val="0.7"/>
        </c:scaling>
        <c:delete val="0"/>
        <c:axPos val="l"/>
        <c:majorGridlines>
          <c:spPr>
            <a:ln w="1270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Open with the thesis in one line — "I built an explainable model that flags high-risk customers, and wrapped it in a self-serve app so underwriters, not just data scientists, can use it." Give the headline number: AUROC 0.78, and the surprise — the SIMPLEST model won. Tell them the agenda: the data and stats, the model choice, the business call on the threshold, and a live demo of the app plus a GenAI assistant. Keep it to ~30 seconds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Frame the stakes in business language before any statistics. Define the loss ratio in one sentence — claims divided by premiums — and say the model exists to price risk correctly so that ratio stays healthy. Name the three goals: accuracy, explainability, usability. Plant the key asymmetry now — a missed high-risk customer costs roughly 10× an over-flag — because it pays off on the threshold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Walk the four big numbers left to right. Then raise the two nuances that show senior judgment: income is symmetric so mean ≈ median (a rule that does not actually apply here), and the target is ~46% positive — near balanced, not extreme imbalance. Finally, mention you caught 100 impossible age = 200 values and capped them; profiling before modeling is basic hygiene that protects a production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Five steps, one script. The message here is rigor and reproducibility — a single command regenerates every number and chart, so the deck, the written answers and the app can never disagree. Emphasize that clean → test → model → insight → product is a repeatable workflow, not a one-off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The answer is the median, but the real point is method — I measured the skew instead of assuming it. It is 0.04, essentially symmetric, so mean and median are basically identical here and the choice barely matters. The genuinely skewed column is past_claims_amount. Showing you do not apply textbook rules blindly is the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This is the slide to linger on — it is the core finding. Two features drive risk: age pushes it up, health score pulls it down, and everything else is essentially noise. The business translation is concrete: focus underwriting scrutiny on age and health; do not let income or BMI sway decisions on this data. If asked, note this pattern strongly suggests a synthetic dataset built mainly from age and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Show you pick the right test for each data type — Welch t-test for a continuous feature vs a binary target (Welch because variances are not assumed equal), Chi-square for categoricals, VIF for multicollinearity. The honest findings matter: policy_type has NO relationship with risk (p = 0.57), and there is no multicollinearity to fix (all VIFs ≈ 1). I still used L2 regularization as a safeguard.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The punchline — Logistic Regression ties Gradient Boosting on AUROC and beats Random Forest, while being far more explainable, so complexity is not justified. Explain the metric choice: because errors are asymmetric and AUROC is threshold-free, I lead with AUROC and F1, not accuracy. And every coefficient is an odds ratio an underwriter or regulator can read — that is the explainability insurance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Translate the model into business language. Per one standard deviation of age, the odds of high-risk roughly triple; health score is protective (odds ×0.55); chronic disease adds a smaller push. These numbers come straight from the coefficients — no black box. Permutation importance (the chart) confirms the same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This is the business decision. Lower the threshold below 0.50, because a missed high-risk customer hurts the loss ratio far more than an over-flag. The optimum is cost-driven; at a 10:1 cost ratio it lands around 0.08. Be honest that 0.08 is aggressive and illustrative — in production you calibrate the ratio to real claim costs. That is exactly why the app makes the threshold a live business dial, not a fixed statistic.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This answers the "usable by non-technical people" requirement directly. Five tabs take the model out of the notebook and into an underwriter's hands. If you can, switch to the live app right here and demo — predict a customer, open the SHAP view, load a random real customer, then flip to the threshold and portfolio tabs.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This is the GenAI optimization. The one idea to land is GROUNDING — the LLM never computes a number; pandas computes it and the LLM only phrases it, so there are zero hallucinated statistics. That makes GenAI safe in a regulated setting. It runs free on Groq (Llama 3.3 70B) and falls back to exact template text offline, so the demo cannot break. Frame it as responsible AI, not a gimmick.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Close the analysis with four concrete actions in business language: adopt the explainable model, tune the threshold to the loss-ratio target, focus scrutiny on age/health segments, and roll the app out to teams. Add the responsible-use caveat: this is a screening aid with a human in the loop, not an automatic decline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Recap the three pillars in one breath — accurate where it counts, explainable by design, usable by everyone — then open for questions. Point them to the appendix for the app, repo and document links. If time allows, end on the live app rather than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Keep this slide up during Q&amp;A so reviewers can find everything. Before the interview, fill in the deployed Streamlit app URL and confirm the GitHub link, and attach or link the answers document, this deck and the technical guide. This is your one-stop reference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52560" y="-1737360"/>
            <a:ext cx="5486400" cy="5486400"/>
          </a:xfrm>
          <a:prstGeom prst="ellipse">
            <a:avLst/>
          </a:prstGeom>
          <a:solidFill>
            <a:srgbClr val="EAF4FB"/>
          </a:solidFill>
          <a:ln/>
        </p:spPr>
      </p:sp>
      <p:sp>
        <p:nvSpPr>
          <p:cNvPr id="3" name="Shape 1"/>
          <p:cNvSpPr/>
          <p:nvPr/>
        </p:nvSpPr>
        <p:spPr>
          <a:xfrm>
            <a:off x="10149840" y="2926080"/>
            <a:ext cx="4206240" cy="4206240"/>
          </a:xfrm>
          <a:prstGeom prst="ellipse">
            <a:avLst/>
          </a:prstGeom>
          <a:solidFill>
            <a:srgbClr val="EAF7F0"/>
          </a:solidFill>
          <a:ln/>
        </p:spPr>
      </p:sp>
      <p:sp>
        <p:nvSpPr>
          <p:cNvPr id="4" name="Shape 2"/>
          <p:cNvSpPr/>
          <p:nvPr/>
        </p:nvSpPr>
        <p:spPr>
          <a:xfrm>
            <a:off x="11018520" y="822960"/>
            <a:ext cx="1371600" cy="1371600"/>
          </a:xfrm>
          <a:prstGeom prst="ellipse">
            <a:avLst/>
          </a:prstGeom>
          <a:solidFill>
            <a:srgbClr val="00A758">
              <a:alpha val="40000"/>
            </a:srgbClr>
          </a:solidFill>
          <a:ln/>
        </p:spPr>
      </p:sp>
      <p:sp>
        <p:nvSpPr>
          <p:cNvPr id="5" name="Shape 3"/>
          <p:cNvSpPr/>
          <p:nvPr/>
        </p:nvSpPr>
        <p:spPr>
          <a:xfrm>
            <a:off x="822960" y="914400"/>
            <a:ext cx="3200400" cy="310896"/>
          </a:xfrm>
          <a:prstGeom prst="roundRect">
            <a:avLst>
              <a:gd name="adj" fmla="val 50000"/>
            </a:avLst>
          </a:prstGeom>
          <a:solidFill>
            <a:srgbClr val="0090DA"/>
          </a:solidFill>
          <a:ln/>
        </p:spPr>
      </p:sp>
      <p:sp>
        <p:nvSpPr>
          <p:cNvPr id="6" name="Text 4"/>
          <p:cNvSpPr/>
          <p:nvPr/>
        </p:nvSpPr>
        <p:spPr>
          <a:xfrm>
            <a:off x="822960" y="914400"/>
            <a:ext cx="320040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DATA &amp; AI · RISK MODELING</a:t>
            </a:r>
            <a:endParaRPr lang="en-US" sz="1100" dirty="0"/>
          </a:p>
        </p:txBody>
      </p:sp>
      <p:sp>
        <p:nvSpPr>
          <p:cNvPr id="7" name="Text 5"/>
          <p:cNvSpPr/>
          <p:nvPr/>
        </p:nvSpPr>
        <p:spPr>
          <a:xfrm>
            <a:off x="777240" y="1508760"/>
            <a:ext cx="8778240" cy="1920240"/>
          </a:xfrm>
          <a:prstGeom prst="rect">
            <a:avLst/>
          </a:prstGeom>
          <a:noFill/>
          <a:ln/>
        </p:spPr>
        <p:txBody>
          <a:bodyPr wrap="square" lIns="0" tIns="0" rIns="0" bIns="0" rtlCol="0" anchor="ctr"/>
          <a:lstStyle/>
          <a:p>
            <a:pPr indent="0" marL="0">
              <a:lnSpc>
                <a:spcPts val="5000"/>
              </a:lnSpc>
              <a:buNone/>
            </a:pPr>
            <a:r>
              <a:rPr lang="en-US" sz="4600" b="1" dirty="0">
                <a:solidFill>
                  <a:srgbClr val="1B2A38"/>
                </a:solidFill>
                <a:latin typeface="Cambria" pitchFamily="34" charset="0"/>
                <a:ea typeface="Cambria" pitchFamily="34" charset="-122"/>
                <a:cs typeface="Cambria" pitchFamily="34" charset="-120"/>
              </a:rPr>
              <a:t>Predicting High-Risk</a:t>
            </a:r>
            <a:endParaRPr lang="en-US" sz="4600" dirty="0"/>
          </a:p>
          <a:p>
            <a:pPr indent="0" marL="0">
              <a:lnSpc>
                <a:spcPts val="5000"/>
              </a:lnSpc>
              <a:buNone/>
            </a:pPr>
            <a:r>
              <a:rPr lang="en-US" sz="4600" b="1" dirty="0">
                <a:solidFill>
                  <a:srgbClr val="1B2A38"/>
                </a:solidFill>
                <a:latin typeface="Cambria" pitchFamily="34" charset="0"/>
                <a:ea typeface="Cambria" pitchFamily="34" charset="-122"/>
                <a:cs typeface="Cambria" pitchFamily="34" charset="-120"/>
              </a:rPr>
              <a:t>Insurance Customers</a:t>
            </a:r>
            <a:endParaRPr lang="en-US" sz="4600" dirty="0"/>
          </a:p>
        </p:txBody>
      </p:sp>
      <p:sp>
        <p:nvSpPr>
          <p:cNvPr id="8" name="Text 6"/>
          <p:cNvSpPr/>
          <p:nvPr/>
        </p:nvSpPr>
        <p:spPr>
          <a:xfrm>
            <a:off x="822960" y="3429000"/>
            <a:ext cx="8412480" cy="640080"/>
          </a:xfrm>
          <a:prstGeom prst="rect">
            <a:avLst/>
          </a:prstGeom>
          <a:noFill/>
          <a:ln/>
        </p:spPr>
        <p:txBody>
          <a:bodyPr wrap="square" lIns="0" tIns="0" rIns="0" bIns="0" rtlCol="0" anchor="ctr"/>
          <a:lstStyle/>
          <a:p>
            <a:pPr indent="0" marL="0">
              <a:buNone/>
            </a:pPr>
            <a:r>
              <a:rPr lang="en-US" sz="1800" dirty="0">
                <a:solidFill>
                  <a:srgbClr val="5B6770"/>
                </a:solidFill>
                <a:latin typeface="Calibri" pitchFamily="34" charset="0"/>
                <a:ea typeface="Calibri" pitchFamily="34" charset="-122"/>
                <a:cs typeface="Calibri" pitchFamily="34" charset="-120"/>
              </a:rPr>
              <a:t>An explainable risk model — and a self-serve app the whole underwriting team can use.</a:t>
            </a:r>
            <a:endParaRPr lang="en-US" sz="1800" dirty="0"/>
          </a:p>
        </p:txBody>
      </p:sp>
      <p:sp>
        <p:nvSpPr>
          <p:cNvPr id="9" name="Text 7"/>
          <p:cNvSpPr/>
          <p:nvPr/>
        </p:nvSpPr>
        <p:spPr>
          <a:xfrm>
            <a:off x="822960" y="4297680"/>
            <a:ext cx="10058400" cy="365760"/>
          </a:xfrm>
          <a:prstGeom prst="rect">
            <a:avLst/>
          </a:prstGeom>
          <a:noFill/>
          <a:ln/>
        </p:spPr>
        <p:txBody>
          <a:bodyPr wrap="square" lIns="0" tIns="0" rIns="0" bIns="0" rtlCol="0" anchor="ctr"/>
          <a:lstStyle/>
          <a:p>
            <a:pPr indent="0" marL="0">
              <a:buNone/>
            </a:pPr>
            <a:r>
              <a:rPr lang="en-US" sz="1400" b="1" dirty="0">
                <a:solidFill>
                  <a:srgbClr val="00A758"/>
                </a:solidFill>
                <a:latin typeface="Calibri" pitchFamily="34" charset="0"/>
                <a:ea typeface="Calibri" pitchFamily="34" charset="-122"/>
                <a:cs typeface="Calibri" pitchFamily="34" charset="-120"/>
              </a:rPr>
              <a:t>AUROC 0.7803</a:t>
            </a:r>
            <a:pPr indent="0" marL="0">
              <a:buNone/>
            </a:pPr>
            <a:r>
              <a:rPr lang="en-US" sz="1400" dirty="0">
                <a:solidFill>
                  <a:srgbClr val="1B2A38"/>
                </a:solidFill>
                <a:latin typeface="Calibri" pitchFamily="34" charset="0"/>
                <a:ea typeface="Calibri" pitchFamily="34" charset="-122"/>
                <a:cs typeface="Calibri" pitchFamily="34" charset="-120"/>
              </a:rPr>
              <a:t>   ·   60,000 customers   ·   Explainable + GenAI-assisted</a:t>
            </a:r>
            <a:endParaRPr lang="en-US" sz="1400" dirty="0"/>
          </a:p>
        </p:txBody>
      </p:sp>
      <p:sp>
        <p:nvSpPr>
          <p:cNvPr id="10" name="Shape 8"/>
          <p:cNvSpPr/>
          <p:nvPr/>
        </p:nvSpPr>
        <p:spPr>
          <a:xfrm>
            <a:off x="868680" y="4983480"/>
            <a:ext cx="4754880" cy="0"/>
          </a:xfrm>
          <a:prstGeom prst="line">
            <a:avLst/>
          </a:prstGeom>
          <a:noFill/>
          <a:ln w="19050">
            <a:solidFill>
              <a:srgbClr val="E7EFF5"/>
            </a:solidFill>
            <a:prstDash val="solid"/>
          </a:ln>
        </p:spPr>
      </p:sp>
      <p:sp>
        <p:nvSpPr>
          <p:cNvPr id="11" name="Text 9"/>
          <p:cNvSpPr/>
          <p:nvPr/>
        </p:nvSpPr>
        <p:spPr>
          <a:xfrm>
            <a:off x="868680" y="5166360"/>
            <a:ext cx="8229600" cy="292608"/>
          </a:xfrm>
          <a:prstGeom prst="rect">
            <a:avLst/>
          </a:prstGeom>
          <a:noFill/>
          <a:ln/>
        </p:spPr>
        <p:txBody>
          <a:bodyPr wrap="square" lIns="0" tIns="0" rIns="0" bIns="0" rtlCol="0" anchor="ctr"/>
          <a:lstStyle/>
          <a:p>
            <a:pPr indent="0" marL="0">
              <a:buNone/>
            </a:pPr>
            <a:r>
              <a:rPr lang="en-US" sz="1500" dirty="0">
                <a:solidFill>
                  <a:srgbClr val="5B6770"/>
                </a:solidFill>
                <a:latin typeface="Calibri" pitchFamily="34" charset="0"/>
                <a:ea typeface="Calibri" pitchFamily="34" charset="-122"/>
                <a:cs typeface="Calibri" pitchFamily="34" charset="-120"/>
              </a:rPr>
              <a:t>Submitted by  </a:t>
            </a:r>
            <a:pPr indent="0" marL="0">
              <a:buNone/>
            </a:pPr>
            <a:r>
              <a:rPr lang="en-US" sz="1500" b="1" dirty="0">
                <a:solidFill>
                  <a:srgbClr val="1B2A38"/>
                </a:solidFill>
                <a:latin typeface="Calibri" pitchFamily="34" charset="0"/>
                <a:ea typeface="Calibri" pitchFamily="34" charset="-122"/>
                <a:cs typeface="Calibri" pitchFamily="34" charset="-120"/>
              </a:rPr>
              <a:t>Pavel Daulat Bodle</a:t>
            </a:r>
            <a:endParaRPr lang="en-US" sz="1500" dirty="0"/>
          </a:p>
        </p:txBody>
      </p:sp>
      <p:sp>
        <p:nvSpPr>
          <p:cNvPr id="12" name="Text 10"/>
          <p:cNvSpPr/>
          <p:nvPr/>
        </p:nvSpPr>
        <p:spPr>
          <a:xfrm>
            <a:off x="868680" y="5477256"/>
            <a:ext cx="8229600" cy="274320"/>
          </a:xfrm>
          <a:prstGeom prst="rect">
            <a:avLst/>
          </a:prstGeom>
          <a:noFill/>
          <a:ln/>
        </p:spPr>
        <p:txBody>
          <a:bodyPr wrap="square" lIns="0" tIns="0" rIns="0" bIns="0" rtlCol="0" anchor="ctr"/>
          <a:lstStyle/>
          <a:p>
            <a:pPr indent="0" marL="0">
              <a:buNone/>
            </a:pPr>
            <a:r>
              <a:rPr lang="en-US" sz="1250" dirty="0">
                <a:solidFill>
                  <a:srgbClr val="5B6770"/>
                </a:solidFill>
                <a:latin typeface="Calibri" pitchFamily="34" charset="0"/>
                <a:ea typeface="Calibri" pitchFamily="34" charset="-122"/>
                <a:cs typeface="Calibri" pitchFamily="34" charset="-120"/>
              </a:rPr>
              <a:t>Senior AI Engineer</a:t>
            </a:r>
            <a:endParaRPr lang="en-US" sz="1250" dirty="0"/>
          </a:p>
        </p:txBody>
      </p:sp>
      <p:sp>
        <p:nvSpPr>
          <p:cNvPr id="13" name="Text 11"/>
          <p:cNvSpPr/>
          <p:nvPr/>
        </p:nvSpPr>
        <p:spPr>
          <a:xfrm>
            <a:off x="868680" y="5806440"/>
            <a:ext cx="10515600" cy="274320"/>
          </a:xfrm>
          <a:prstGeom prst="rect">
            <a:avLst/>
          </a:prstGeom>
          <a:noFill/>
          <a:ln/>
        </p:spPr>
        <p:txBody>
          <a:bodyPr wrap="square" lIns="0" tIns="0" rIns="0" bIns="0" rtlCol="0" anchor="ctr"/>
          <a:lstStyle/>
          <a:p>
            <a:pPr indent="0" marL="0">
              <a:buNone/>
            </a:pPr>
            <a:r>
              <a:rPr lang="en-US" sz="1150" dirty="0">
                <a:solidFill>
                  <a:srgbClr val="0090DA"/>
                </a:solidFill>
                <a:latin typeface="Calibri" pitchFamily="34" charset="0"/>
                <a:ea typeface="Calibri" pitchFamily="34" charset="-122"/>
                <a:cs typeface="Calibri" pitchFamily="34" charset="-120"/>
              </a:rPr>
              <a:t>🔗 linkedin.com/in/pavelbodle</a:t>
            </a:r>
            <a:pPr indent="0" marL="0">
              <a:buNone/>
            </a:pPr>
            <a:r>
              <a:rPr lang="en-US" sz="1150" dirty="0">
                <a:solidFill>
                  <a:srgbClr val="0090DA"/>
                </a:solidFill>
                <a:latin typeface="Calibri" pitchFamily="34" charset="0"/>
                <a:ea typeface="Calibri" pitchFamily="34" charset="-122"/>
                <a:cs typeface="Calibri" pitchFamily="34" charset="-120"/>
              </a:rPr>
              <a:t>      🐙 github.com/pavelbodle</a:t>
            </a:r>
            <a:pPr indent="0" marL="0">
              <a:buNone/>
            </a:pPr>
            <a:r>
              <a:rPr lang="en-US" sz="1150" dirty="0">
                <a:solidFill>
                  <a:srgbClr val="0090DA"/>
                </a:solidFill>
                <a:latin typeface="Calibri" pitchFamily="34" charset="0"/>
                <a:ea typeface="Calibri" pitchFamily="34" charset="-122"/>
                <a:cs typeface="Calibri" pitchFamily="34" charset="-120"/>
              </a:rPr>
              <a:t>      📧 paveliitb@gmail.com</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THE BUSINESS PROBLEM</a:t>
            </a:r>
            <a:endParaRPr lang="en-US" sz="1200" dirty="0"/>
          </a:p>
        </p:txBody>
      </p:sp>
      <p:sp>
        <p:nvSpPr>
          <p:cNvPr id="3" name="Text 1"/>
          <p:cNvSpPr/>
          <p:nvPr/>
        </p:nvSpPr>
        <p:spPr>
          <a:xfrm>
            <a:off x="548640" y="777240"/>
            <a:ext cx="1115568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Every mis-priced high-risk customer hurts the loss ratio</a:t>
            </a:r>
            <a:endParaRPr lang="en-US" sz="3200" dirty="0"/>
          </a:p>
        </p:txBody>
      </p:sp>
      <p:sp>
        <p:nvSpPr>
          <p:cNvPr id="4" name="Text 2"/>
          <p:cNvSpPr/>
          <p:nvPr/>
        </p:nvSpPr>
        <p:spPr>
          <a:xfrm>
            <a:off x="548640" y="1691640"/>
            <a:ext cx="6492240" cy="1645920"/>
          </a:xfrm>
          <a:prstGeom prst="rect">
            <a:avLst/>
          </a:prstGeom>
          <a:noFill/>
          <a:ln/>
        </p:spPr>
        <p:txBody>
          <a:bodyPr wrap="square" lIns="0" tIns="0" rIns="0" bIns="0" rtlCol="0" anchor="ctr"/>
          <a:lstStyle/>
          <a:p>
            <a:pPr indent="0" marL="0">
              <a:lnSpc>
                <a:spcPts val="2400"/>
              </a:lnSpc>
              <a:buNone/>
            </a:pPr>
            <a:r>
              <a:rPr lang="en-US" sz="1500" dirty="0">
                <a:solidFill>
                  <a:srgbClr val="1B2A38"/>
                </a:solidFill>
                <a:latin typeface="Calibri" pitchFamily="34" charset="0"/>
                <a:ea typeface="Calibri" pitchFamily="34" charset="-122"/>
                <a:cs typeface="Calibri" pitchFamily="34" charset="-120"/>
              </a:rPr>
              <a:t>Insurers win or lose on one number: the loss ratio (claims paid ÷ premiums earned). If high-risk customers are approved at standard prices, claims rise and margins erode. The goal: flag high-risk applicants early — accurately, and in a way underwriters can trust and explain.</a:t>
            </a:r>
            <a:endParaRPr lang="en-US" sz="1500" dirty="0"/>
          </a:p>
        </p:txBody>
      </p:sp>
      <p:sp>
        <p:nvSpPr>
          <p:cNvPr id="5" name="Shape 3"/>
          <p:cNvSpPr/>
          <p:nvPr/>
        </p:nvSpPr>
        <p:spPr>
          <a:xfrm>
            <a:off x="548640" y="3429000"/>
            <a:ext cx="146304" cy="146304"/>
          </a:xfrm>
          <a:prstGeom prst="ellipse">
            <a:avLst/>
          </a:prstGeom>
          <a:solidFill>
            <a:srgbClr val="0090DA"/>
          </a:solidFill>
          <a:ln/>
        </p:spPr>
      </p:sp>
      <p:sp>
        <p:nvSpPr>
          <p:cNvPr id="6" name="Text 4"/>
          <p:cNvSpPr/>
          <p:nvPr/>
        </p:nvSpPr>
        <p:spPr>
          <a:xfrm>
            <a:off x="841248" y="3328416"/>
            <a:ext cx="619963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Accuracy  </a:t>
            </a:r>
            <a:pPr indent="0" marL="0">
              <a:buNone/>
            </a:pPr>
            <a:r>
              <a:rPr lang="en-US" sz="1350" dirty="0">
                <a:solidFill>
                  <a:srgbClr val="5B6770"/>
                </a:solidFill>
                <a:latin typeface="Calibri" pitchFamily="34" charset="0"/>
                <a:ea typeface="Calibri" pitchFamily="34" charset="-122"/>
                <a:cs typeface="Calibri" pitchFamily="34" charset="-120"/>
              </a:rPr>
              <a:t>Rank customers by true risk so pricing matches exposure.</a:t>
            </a:r>
            <a:endParaRPr lang="en-US" sz="1350" dirty="0"/>
          </a:p>
        </p:txBody>
      </p:sp>
      <p:sp>
        <p:nvSpPr>
          <p:cNvPr id="7" name="Shape 5"/>
          <p:cNvSpPr/>
          <p:nvPr/>
        </p:nvSpPr>
        <p:spPr>
          <a:xfrm>
            <a:off x="548640" y="4160520"/>
            <a:ext cx="146304" cy="146304"/>
          </a:xfrm>
          <a:prstGeom prst="ellipse">
            <a:avLst/>
          </a:prstGeom>
          <a:solidFill>
            <a:srgbClr val="00A758"/>
          </a:solidFill>
          <a:ln/>
        </p:spPr>
      </p:sp>
      <p:sp>
        <p:nvSpPr>
          <p:cNvPr id="8" name="Text 6"/>
          <p:cNvSpPr/>
          <p:nvPr/>
        </p:nvSpPr>
        <p:spPr>
          <a:xfrm>
            <a:off x="841248" y="4059936"/>
            <a:ext cx="619963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Explainability  </a:t>
            </a:r>
            <a:pPr indent="0" marL="0">
              <a:buNone/>
            </a:pPr>
            <a:r>
              <a:rPr lang="en-US" sz="1350" dirty="0">
                <a:solidFill>
                  <a:srgbClr val="5B6770"/>
                </a:solidFill>
                <a:latin typeface="Calibri" pitchFamily="34" charset="0"/>
                <a:ea typeface="Calibri" pitchFamily="34" charset="-122"/>
                <a:cs typeface="Calibri" pitchFamily="34" charset="-120"/>
              </a:rPr>
              <a:t>Regulators and customers require a transparent reason for each decision.</a:t>
            </a:r>
            <a:endParaRPr lang="en-US" sz="1350" dirty="0"/>
          </a:p>
        </p:txBody>
      </p:sp>
      <p:sp>
        <p:nvSpPr>
          <p:cNvPr id="9" name="Shape 7"/>
          <p:cNvSpPr/>
          <p:nvPr/>
        </p:nvSpPr>
        <p:spPr>
          <a:xfrm>
            <a:off x="548640" y="4892040"/>
            <a:ext cx="146304" cy="146304"/>
          </a:xfrm>
          <a:prstGeom prst="ellipse">
            <a:avLst/>
          </a:prstGeom>
          <a:solidFill>
            <a:srgbClr val="E4002B"/>
          </a:solidFill>
          <a:ln/>
        </p:spPr>
      </p:sp>
      <p:sp>
        <p:nvSpPr>
          <p:cNvPr id="10" name="Text 8"/>
          <p:cNvSpPr/>
          <p:nvPr/>
        </p:nvSpPr>
        <p:spPr>
          <a:xfrm>
            <a:off x="841248" y="4791456"/>
            <a:ext cx="619963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Usability  </a:t>
            </a:r>
            <a:pPr indent="0" marL="0">
              <a:buNone/>
            </a:pPr>
            <a:r>
              <a:rPr lang="en-US" sz="1350" dirty="0">
                <a:solidFill>
                  <a:srgbClr val="5B6770"/>
                </a:solidFill>
                <a:latin typeface="Calibri" pitchFamily="34" charset="0"/>
                <a:ea typeface="Calibri" pitchFamily="34" charset="-122"/>
                <a:cs typeface="Calibri" pitchFamily="34" charset="-120"/>
              </a:rPr>
              <a:t>Underwriters — not only data scientists — must be able to use it day to day.</a:t>
            </a:r>
            <a:endParaRPr lang="en-US" sz="1350" dirty="0"/>
          </a:p>
        </p:txBody>
      </p:sp>
      <p:sp>
        <p:nvSpPr>
          <p:cNvPr id="11" name="Shape 9"/>
          <p:cNvSpPr/>
          <p:nvPr/>
        </p:nvSpPr>
        <p:spPr>
          <a:xfrm>
            <a:off x="7406640" y="1691640"/>
            <a:ext cx="4206240" cy="3840480"/>
          </a:xfrm>
          <a:prstGeom prst="roundRect">
            <a:avLst>
              <a:gd name="adj" fmla="val 2381"/>
            </a:avLst>
          </a:prstGeom>
          <a:solidFill>
            <a:srgbClr val="12283A"/>
          </a:solidFill>
          <a:ln/>
          <a:effectLst>
            <a:outerShdw sx="100000" sy="100000" kx="0" ky="0" algn="bl" rotWithShape="0" blurRad="101600" dist="38100" dir="5400000">
              <a:srgbClr val="99A7B4">
                <a:alpha val="40000"/>
              </a:srgbClr>
            </a:outerShdw>
          </a:effectLst>
        </p:spPr>
      </p:sp>
      <p:sp>
        <p:nvSpPr>
          <p:cNvPr id="12" name="Text 10"/>
          <p:cNvSpPr/>
          <p:nvPr/>
        </p:nvSpPr>
        <p:spPr>
          <a:xfrm>
            <a:off x="7680960" y="1965960"/>
            <a:ext cx="3657600" cy="274320"/>
          </a:xfrm>
          <a:prstGeom prst="rect">
            <a:avLst/>
          </a:prstGeom>
          <a:noFill/>
          <a:ln/>
        </p:spPr>
        <p:txBody>
          <a:bodyPr wrap="square" lIns="0" tIns="0" rIns="0" bIns="0" rtlCol="0" anchor="ctr"/>
          <a:lstStyle/>
          <a:p>
            <a:pPr indent="0" marL="0">
              <a:buNone/>
            </a:pPr>
            <a:r>
              <a:rPr lang="en-US" sz="1200" b="1" spc="200" kern="0" dirty="0">
                <a:solidFill>
                  <a:srgbClr val="00A758"/>
                </a:solidFill>
                <a:latin typeface="Calibri" pitchFamily="34" charset="0"/>
                <a:ea typeface="Calibri" pitchFamily="34" charset="-122"/>
                <a:cs typeface="Calibri" pitchFamily="34" charset="-120"/>
              </a:rPr>
              <a:t>THE LEVER</a:t>
            </a:r>
            <a:endParaRPr lang="en-US" sz="1200" dirty="0"/>
          </a:p>
        </p:txBody>
      </p:sp>
      <p:sp>
        <p:nvSpPr>
          <p:cNvPr id="13" name="Text 11"/>
          <p:cNvSpPr/>
          <p:nvPr/>
        </p:nvSpPr>
        <p:spPr>
          <a:xfrm>
            <a:off x="7680960" y="2286000"/>
            <a:ext cx="36576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Loss Ratio</a:t>
            </a:r>
            <a:endParaRPr lang="en-US" sz="3000" dirty="0"/>
          </a:p>
        </p:txBody>
      </p:sp>
      <p:sp>
        <p:nvSpPr>
          <p:cNvPr id="14" name="Text 12"/>
          <p:cNvSpPr/>
          <p:nvPr/>
        </p:nvSpPr>
        <p:spPr>
          <a:xfrm>
            <a:off x="7680960" y="3063240"/>
            <a:ext cx="3657600" cy="365760"/>
          </a:xfrm>
          <a:prstGeom prst="rect">
            <a:avLst/>
          </a:prstGeom>
          <a:noFill/>
          <a:ln/>
        </p:spPr>
        <p:txBody>
          <a:bodyPr wrap="square" lIns="0" tIns="0" rIns="0" bIns="0" rtlCol="0" anchor="ctr"/>
          <a:lstStyle/>
          <a:p>
            <a:pPr indent="0" marL="0">
              <a:buNone/>
            </a:pPr>
            <a:r>
              <a:rPr lang="en-US" sz="1600" dirty="0">
                <a:solidFill>
                  <a:srgbClr val="CADCEC"/>
                </a:solidFill>
                <a:latin typeface="Calibri" pitchFamily="34" charset="0"/>
                <a:ea typeface="Calibri" pitchFamily="34" charset="-122"/>
                <a:cs typeface="Calibri" pitchFamily="34" charset="-120"/>
              </a:rPr>
              <a:t>Claims paid</a:t>
            </a:r>
            <a:endParaRPr lang="en-US" sz="1600" dirty="0"/>
          </a:p>
        </p:txBody>
      </p:sp>
      <p:sp>
        <p:nvSpPr>
          <p:cNvPr id="15" name="Shape 13"/>
          <p:cNvSpPr/>
          <p:nvPr/>
        </p:nvSpPr>
        <p:spPr>
          <a:xfrm>
            <a:off x="7680960" y="3520440"/>
            <a:ext cx="3566160" cy="0"/>
          </a:xfrm>
          <a:prstGeom prst="line">
            <a:avLst/>
          </a:prstGeom>
          <a:noFill/>
          <a:ln w="25400">
            <a:solidFill>
              <a:srgbClr val="00A758"/>
            </a:solidFill>
            <a:prstDash val="solid"/>
          </a:ln>
        </p:spPr>
      </p:sp>
      <p:sp>
        <p:nvSpPr>
          <p:cNvPr id="16" name="Text 14"/>
          <p:cNvSpPr/>
          <p:nvPr/>
        </p:nvSpPr>
        <p:spPr>
          <a:xfrm>
            <a:off x="7680960" y="3611880"/>
            <a:ext cx="3657600" cy="365760"/>
          </a:xfrm>
          <a:prstGeom prst="rect">
            <a:avLst/>
          </a:prstGeom>
          <a:noFill/>
          <a:ln/>
        </p:spPr>
        <p:txBody>
          <a:bodyPr wrap="square" lIns="0" tIns="0" rIns="0" bIns="0" rtlCol="0" anchor="ctr"/>
          <a:lstStyle/>
          <a:p>
            <a:pPr indent="0" marL="0">
              <a:buNone/>
            </a:pPr>
            <a:r>
              <a:rPr lang="en-US" sz="1600" dirty="0">
                <a:solidFill>
                  <a:srgbClr val="CADCEC"/>
                </a:solidFill>
                <a:latin typeface="Calibri" pitchFamily="34" charset="0"/>
                <a:ea typeface="Calibri" pitchFamily="34" charset="-122"/>
                <a:cs typeface="Calibri" pitchFamily="34" charset="-120"/>
              </a:rPr>
              <a:t>Premiums earned</a:t>
            </a:r>
            <a:endParaRPr lang="en-US" sz="1600" dirty="0"/>
          </a:p>
        </p:txBody>
      </p:sp>
      <p:sp>
        <p:nvSpPr>
          <p:cNvPr id="17" name="Text 15"/>
          <p:cNvSpPr/>
          <p:nvPr/>
        </p:nvSpPr>
        <p:spPr>
          <a:xfrm>
            <a:off x="7680960" y="4297680"/>
            <a:ext cx="3657600" cy="1005840"/>
          </a:xfrm>
          <a:prstGeom prst="rect">
            <a:avLst/>
          </a:prstGeom>
          <a:noFill/>
          <a:ln/>
        </p:spPr>
        <p:txBody>
          <a:bodyPr wrap="square" lIns="0" tIns="0" rIns="0" bIns="0" rtlCol="0" anchor="ctr"/>
          <a:lstStyle/>
          <a:p>
            <a:pPr indent="0" marL="0">
              <a:lnSpc>
                <a:spcPts val="1800"/>
              </a:lnSpc>
              <a:buNone/>
            </a:pPr>
            <a:r>
              <a:rPr lang="en-US" sz="1250" i="1" dirty="0">
                <a:solidFill>
                  <a:srgbClr val="AFC2D2"/>
                </a:solidFill>
                <a:latin typeface="Calibri" pitchFamily="34" charset="0"/>
                <a:ea typeface="Calibri" pitchFamily="34" charset="-122"/>
                <a:cs typeface="Calibri" pitchFamily="34" charset="-120"/>
              </a:rPr>
              <a:t>A single missed high-risk customer can cost 10× an over-cautious flag. The model is how we manage that asymmetry.</a:t>
            </a:r>
            <a:endParaRPr lang="en-US" sz="1250" dirty="0"/>
          </a:p>
        </p:txBody>
      </p:sp>
      <p:sp>
        <p:nvSpPr>
          <p:cNvPr id="18" name="Text 1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19" name="Text 1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THE DATASET</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The data at a glance</a:t>
            </a:r>
            <a:endParaRPr lang="en-US" sz="3200" dirty="0"/>
          </a:p>
        </p:txBody>
      </p:sp>
      <p:sp>
        <p:nvSpPr>
          <p:cNvPr id="4" name="Shape 2"/>
          <p:cNvSpPr/>
          <p:nvPr/>
        </p:nvSpPr>
        <p:spPr>
          <a:xfrm>
            <a:off x="548640" y="1828800"/>
            <a:ext cx="2606040" cy="1554480"/>
          </a:xfrm>
          <a:prstGeom prst="roundRect">
            <a:avLst>
              <a:gd name="adj" fmla="val 4706"/>
            </a:avLst>
          </a:prstGeom>
          <a:solidFill>
            <a:srgbClr val="FFFFFF"/>
          </a:solidFill>
          <a:ln w="12700">
            <a:solidFill>
              <a:srgbClr val="E7EFF5"/>
            </a:solidFill>
            <a:prstDash val="solid"/>
          </a:ln>
          <a:effectLst>
            <a:outerShdw sx="100000" sy="100000" kx="0" ky="0" algn="bl" rotWithShape="0" blurRad="76200" dist="25400" dir="5400000">
              <a:srgbClr val="AAB7C4">
                <a:alpha val="35000"/>
              </a:srgbClr>
            </a:outerShdw>
          </a:effectLst>
        </p:spPr>
      </p:sp>
      <p:sp>
        <p:nvSpPr>
          <p:cNvPr id="5" name="Text 3"/>
          <p:cNvSpPr/>
          <p:nvPr/>
        </p:nvSpPr>
        <p:spPr>
          <a:xfrm>
            <a:off x="548640" y="1993392"/>
            <a:ext cx="2606040" cy="731520"/>
          </a:xfrm>
          <a:prstGeom prst="rect">
            <a:avLst/>
          </a:prstGeom>
          <a:noFill/>
          <a:ln/>
        </p:spPr>
        <p:txBody>
          <a:bodyPr wrap="square" lIns="0" tIns="0" rIns="0" bIns="0" rtlCol="0" anchor="ctr"/>
          <a:lstStyle/>
          <a:p>
            <a:pPr algn="ctr" indent="0" marL="0">
              <a:buNone/>
            </a:pPr>
            <a:r>
              <a:rPr lang="en-US" sz="4000" b="1" dirty="0">
                <a:solidFill>
                  <a:srgbClr val="0090DA"/>
                </a:solidFill>
                <a:latin typeface="Cambria" pitchFamily="34" charset="0"/>
                <a:ea typeface="Cambria" pitchFamily="34" charset="-122"/>
                <a:cs typeface="Cambria" pitchFamily="34" charset="-120"/>
              </a:rPr>
              <a:t>60,000</a:t>
            </a:r>
            <a:endParaRPr lang="en-US" sz="4000" dirty="0"/>
          </a:p>
        </p:txBody>
      </p:sp>
      <p:sp>
        <p:nvSpPr>
          <p:cNvPr id="6" name="Text 4"/>
          <p:cNvSpPr/>
          <p:nvPr/>
        </p:nvSpPr>
        <p:spPr>
          <a:xfrm>
            <a:off x="640080" y="2761488"/>
            <a:ext cx="2423160" cy="457200"/>
          </a:xfrm>
          <a:prstGeom prst="rect">
            <a:avLst/>
          </a:prstGeom>
          <a:noFill/>
          <a:ln/>
        </p:spPr>
        <p:txBody>
          <a:bodyPr wrap="square" lIns="0" tIns="0" rIns="0" bIns="0" rtlCol="0" anchor="t"/>
          <a:lstStyle/>
          <a:p>
            <a:pPr algn="ctr" indent="0" marL="0">
              <a:buNone/>
            </a:pPr>
            <a:r>
              <a:rPr lang="en-US" sz="1200" dirty="0">
                <a:solidFill>
                  <a:srgbClr val="1B2A38"/>
                </a:solidFill>
                <a:latin typeface="Calibri" pitchFamily="34" charset="0"/>
                <a:ea typeface="Calibri" pitchFamily="34" charset="-122"/>
                <a:cs typeface="Calibri" pitchFamily="34" charset="-120"/>
              </a:rPr>
              <a:t>Customers (rows)</a:t>
            </a:r>
            <a:endParaRPr lang="en-US" sz="1200" dirty="0"/>
          </a:p>
        </p:txBody>
      </p:sp>
      <p:sp>
        <p:nvSpPr>
          <p:cNvPr id="7" name="Shape 5"/>
          <p:cNvSpPr/>
          <p:nvPr/>
        </p:nvSpPr>
        <p:spPr>
          <a:xfrm>
            <a:off x="3337560" y="1828800"/>
            <a:ext cx="2606040" cy="1554480"/>
          </a:xfrm>
          <a:prstGeom prst="roundRect">
            <a:avLst>
              <a:gd name="adj" fmla="val 4706"/>
            </a:avLst>
          </a:prstGeom>
          <a:solidFill>
            <a:srgbClr val="FFFFFF"/>
          </a:solidFill>
          <a:ln w="12700">
            <a:solidFill>
              <a:srgbClr val="E7EFF5"/>
            </a:solidFill>
            <a:prstDash val="solid"/>
          </a:ln>
          <a:effectLst>
            <a:outerShdw sx="100000" sy="100000" kx="0" ky="0" algn="bl" rotWithShape="0" blurRad="76200" dist="25400" dir="5400000">
              <a:srgbClr val="AAB7C4">
                <a:alpha val="35000"/>
              </a:srgbClr>
            </a:outerShdw>
          </a:effectLst>
        </p:spPr>
      </p:sp>
      <p:sp>
        <p:nvSpPr>
          <p:cNvPr id="8" name="Text 6"/>
          <p:cNvSpPr/>
          <p:nvPr/>
        </p:nvSpPr>
        <p:spPr>
          <a:xfrm>
            <a:off x="3337560" y="1993392"/>
            <a:ext cx="2606040" cy="731520"/>
          </a:xfrm>
          <a:prstGeom prst="rect">
            <a:avLst/>
          </a:prstGeom>
          <a:noFill/>
          <a:ln/>
        </p:spPr>
        <p:txBody>
          <a:bodyPr wrap="square" lIns="0" tIns="0" rIns="0" bIns="0" rtlCol="0" anchor="ctr"/>
          <a:lstStyle/>
          <a:p>
            <a:pPr algn="ctr" indent="0" marL="0">
              <a:buNone/>
            </a:pPr>
            <a:r>
              <a:rPr lang="en-US" sz="4000" b="1" dirty="0">
                <a:solidFill>
                  <a:srgbClr val="E4002B"/>
                </a:solidFill>
                <a:latin typeface="Cambria" pitchFamily="34" charset="0"/>
                <a:ea typeface="Cambria" pitchFamily="34" charset="-122"/>
                <a:cs typeface="Cambria" pitchFamily="34" charset="-120"/>
              </a:rPr>
              <a:t>45.68%</a:t>
            </a:r>
            <a:endParaRPr lang="en-US" sz="4000" dirty="0"/>
          </a:p>
        </p:txBody>
      </p:sp>
      <p:sp>
        <p:nvSpPr>
          <p:cNvPr id="9" name="Text 7"/>
          <p:cNvSpPr/>
          <p:nvPr/>
        </p:nvSpPr>
        <p:spPr>
          <a:xfrm>
            <a:off x="3429000" y="2761488"/>
            <a:ext cx="2423160" cy="457200"/>
          </a:xfrm>
          <a:prstGeom prst="rect">
            <a:avLst/>
          </a:prstGeom>
          <a:noFill/>
          <a:ln/>
        </p:spPr>
        <p:txBody>
          <a:bodyPr wrap="square" lIns="0" tIns="0" rIns="0" bIns="0" rtlCol="0" anchor="t"/>
          <a:lstStyle/>
          <a:p>
            <a:pPr algn="ctr" indent="0" marL="0">
              <a:buNone/>
            </a:pPr>
            <a:r>
              <a:rPr lang="en-US" sz="1200" dirty="0">
                <a:solidFill>
                  <a:srgbClr val="1B2A38"/>
                </a:solidFill>
                <a:latin typeface="Calibri" pitchFamily="34" charset="0"/>
                <a:ea typeface="Calibri" pitchFamily="34" charset="-122"/>
                <a:cs typeface="Calibri" pitchFamily="34" charset="-120"/>
              </a:rPr>
              <a:t>Are high-risk</a:t>
            </a:r>
            <a:endParaRPr lang="en-US" sz="1200" dirty="0"/>
          </a:p>
        </p:txBody>
      </p:sp>
      <p:sp>
        <p:nvSpPr>
          <p:cNvPr id="10" name="Text 8"/>
          <p:cNvSpPr/>
          <p:nvPr/>
        </p:nvSpPr>
        <p:spPr>
          <a:xfrm>
            <a:off x="3429000" y="3108960"/>
            <a:ext cx="2423160" cy="256032"/>
          </a:xfrm>
          <a:prstGeom prst="rect">
            <a:avLst/>
          </a:prstGeom>
          <a:noFill/>
          <a:ln/>
        </p:spPr>
        <p:txBody>
          <a:bodyPr wrap="square" lIns="0" tIns="0" rIns="0" bIns="0" rtlCol="0" anchor="ctr"/>
          <a:lstStyle/>
          <a:p>
            <a:pPr algn="ctr" indent="0" marL="0">
              <a:buNone/>
            </a:pPr>
            <a:r>
              <a:rPr lang="en-US" sz="900" i="1" dirty="0">
                <a:solidFill>
                  <a:srgbClr val="5B6770"/>
                </a:solidFill>
                <a:latin typeface="Calibri" pitchFamily="34" charset="0"/>
                <a:ea typeface="Calibri" pitchFamily="34" charset="-122"/>
                <a:cs typeface="Calibri" pitchFamily="34" charset="-120"/>
              </a:rPr>
              <a:t>nearly balanced</a:t>
            </a:r>
            <a:endParaRPr lang="en-US" sz="900" dirty="0"/>
          </a:p>
        </p:txBody>
      </p:sp>
      <p:sp>
        <p:nvSpPr>
          <p:cNvPr id="11" name="Shape 9"/>
          <p:cNvSpPr/>
          <p:nvPr/>
        </p:nvSpPr>
        <p:spPr>
          <a:xfrm>
            <a:off x="6126480" y="1828800"/>
            <a:ext cx="2606040" cy="1554480"/>
          </a:xfrm>
          <a:prstGeom prst="roundRect">
            <a:avLst>
              <a:gd name="adj" fmla="val 4706"/>
            </a:avLst>
          </a:prstGeom>
          <a:solidFill>
            <a:srgbClr val="FFFFFF"/>
          </a:solidFill>
          <a:ln w="12700">
            <a:solidFill>
              <a:srgbClr val="E7EFF5"/>
            </a:solidFill>
            <a:prstDash val="solid"/>
          </a:ln>
          <a:effectLst>
            <a:outerShdw sx="100000" sy="100000" kx="0" ky="0" algn="bl" rotWithShape="0" blurRad="76200" dist="25400" dir="5400000">
              <a:srgbClr val="AAB7C4">
                <a:alpha val="35000"/>
              </a:srgbClr>
            </a:outerShdw>
          </a:effectLst>
        </p:spPr>
      </p:sp>
      <p:sp>
        <p:nvSpPr>
          <p:cNvPr id="12" name="Text 10"/>
          <p:cNvSpPr/>
          <p:nvPr/>
        </p:nvSpPr>
        <p:spPr>
          <a:xfrm>
            <a:off x="6126480" y="1993392"/>
            <a:ext cx="2606040" cy="731520"/>
          </a:xfrm>
          <a:prstGeom prst="rect">
            <a:avLst/>
          </a:prstGeom>
          <a:noFill/>
          <a:ln/>
        </p:spPr>
        <p:txBody>
          <a:bodyPr wrap="square" lIns="0" tIns="0" rIns="0" bIns="0" rtlCol="0" anchor="ctr"/>
          <a:lstStyle/>
          <a:p>
            <a:pPr algn="ctr" indent="0" marL="0">
              <a:buNone/>
            </a:pPr>
            <a:r>
              <a:rPr lang="en-US" sz="4000" b="1" dirty="0">
                <a:solidFill>
                  <a:srgbClr val="00A758"/>
                </a:solidFill>
                <a:latin typeface="Cambria" pitchFamily="34" charset="0"/>
                <a:ea typeface="Cambria" pitchFamily="34" charset="-122"/>
                <a:cs typeface="Cambria" pitchFamily="34" charset="-120"/>
              </a:rPr>
              <a:t>5%</a:t>
            </a:r>
            <a:endParaRPr lang="en-US" sz="4000" dirty="0"/>
          </a:p>
        </p:txBody>
      </p:sp>
      <p:sp>
        <p:nvSpPr>
          <p:cNvPr id="13" name="Text 11"/>
          <p:cNvSpPr/>
          <p:nvPr/>
        </p:nvSpPr>
        <p:spPr>
          <a:xfrm>
            <a:off x="6217920" y="2761488"/>
            <a:ext cx="2423160" cy="457200"/>
          </a:xfrm>
          <a:prstGeom prst="rect">
            <a:avLst/>
          </a:prstGeom>
          <a:noFill/>
          <a:ln/>
        </p:spPr>
        <p:txBody>
          <a:bodyPr wrap="square" lIns="0" tIns="0" rIns="0" bIns="0" rtlCol="0" anchor="t"/>
          <a:lstStyle/>
          <a:p>
            <a:pPr algn="ctr" indent="0" marL="0">
              <a:buNone/>
            </a:pPr>
            <a:r>
              <a:rPr lang="en-US" sz="1200" dirty="0">
                <a:solidFill>
                  <a:srgbClr val="1B2A38"/>
                </a:solidFill>
                <a:latin typeface="Calibri" pitchFamily="34" charset="0"/>
                <a:ea typeface="Calibri" pitchFamily="34" charset="-122"/>
                <a:cs typeface="Calibri" pitchFamily="34" charset="-120"/>
              </a:rPr>
              <a:t>Income values missing</a:t>
            </a:r>
            <a:endParaRPr lang="en-US" sz="1200" dirty="0"/>
          </a:p>
        </p:txBody>
      </p:sp>
      <p:sp>
        <p:nvSpPr>
          <p:cNvPr id="14" name="Text 12"/>
          <p:cNvSpPr/>
          <p:nvPr/>
        </p:nvSpPr>
        <p:spPr>
          <a:xfrm>
            <a:off x="6217920" y="3108960"/>
            <a:ext cx="2423160" cy="256032"/>
          </a:xfrm>
          <a:prstGeom prst="rect">
            <a:avLst/>
          </a:prstGeom>
          <a:noFill/>
          <a:ln/>
        </p:spPr>
        <p:txBody>
          <a:bodyPr wrap="square" lIns="0" tIns="0" rIns="0" bIns="0" rtlCol="0" anchor="ctr"/>
          <a:lstStyle/>
          <a:p>
            <a:pPr algn="ctr" indent="0" marL="0">
              <a:buNone/>
            </a:pPr>
            <a:r>
              <a:rPr lang="en-US" sz="900" i="1" dirty="0">
                <a:solidFill>
                  <a:srgbClr val="5B6770"/>
                </a:solidFill>
                <a:latin typeface="Calibri" pitchFamily="34" charset="0"/>
                <a:ea typeface="Calibri" pitchFamily="34" charset="-122"/>
                <a:cs typeface="Calibri" pitchFamily="34" charset="-120"/>
              </a:rPr>
              <a:t>imputed w/ median</a:t>
            </a:r>
            <a:endParaRPr lang="en-US" sz="900" dirty="0"/>
          </a:p>
        </p:txBody>
      </p:sp>
      <p:sp>
        <p:nvSpPr>
          <p:cNvPr id="15" name="Shape 13"/>
          <p:cNvSpPr/>
          <p:nvPr/>
        </p:nvSpPr>
        <p:spPr>
          <a:xfrm>
            <a:off x="8915400" y="1828800"/>
            <a:ext cx="2606040" cy="1554480"/>
          </a:xfrm>
          <a:prstGeom prst="roundRect">
            <a:avLst>
              <a:gd name="adj" fmla="val 4706"/>
            </a:avLst>
          </a:prstGeom>
          <a:solidFill>
            <a:srgbClr val="FFFFFF"/>
          </a:solidFill>
          <a:ln w="12700">
            <a:solidFill>
              <a:srgbClr val="E7EFF5"/>
            </a:solidFill>
            <a:prstDash val="solid"/>
          </a:ln>
          <a:effectLst>
            <a:outerShdw sx="100000" sy="100000" kx="0" ky="0" algn="bl" rotWithShape="0" blurRad="76200" dist="25400" dir="5400000">
              <a:srgbClr val="AAB7C4">
                <a:alpha val="35000"/>
              </a:srgbClr>
            </a:outerShdw>
          </a:effectLst>
        </p:spPr>
      </p:sp>
      <p:sp>
        <p:nvSpPr>
          <p:cNvPr id="16" name="Text 14"/>
          <p:cNvSpPr/>
          <p:nvPr/>
        </p:nvSpPr>
        <p:spPr>
          <a:xfrm>
            <a:off x="8915400" y="1993392"/>
            <a:ext cx="2606040" cy="731520"/>
          </a:xfrm>
          <a:prstGeom prst="rect">
            <a:avLst/>
          </a:prstGeom>
          <a:noFill/>
          <a:ln/>
        </p:spPr>
        <p:txBody>
          <a:bodyPr wrap="square" lIns="0" tIns="0" rIns="0" bIns="0" rtlCol="0" anchor="ctr"/>
          <a:lstStyle/>
          <a:p>
            <a:pPr algn="ctr" indent="0" marL="0">
              <a:buNone/>
            </a:pPr>
            <a:r>
              <a:rPr lang="en-US" sz="4000" b="1" dirty="0">
                <a:solidFill>
                  <a:srgbClr val="12283A"/>
                </a:solidFill>
                <a:latin typeface="Cambria" pitchFamily="34" charset="0"/>
                <a:ea typeface="Cambria" pitchFamily="34" charset="-122"/>
                <a:cs typeface="Cambria" pitchFamily="34" charset="-120"/>
              </a:rPr>
              <a:t>100</a:t>
            </a:r>
            <a:endParaRPr lang="en-US" sz="4000" dirty="0"/>
          </a:p>
        </p:txBody>
      </p:sp>
      <p:sp>
        <p:nvSpPr>
          <p:cNvPr id="17" name="Text 15"/>
          <p:cNvSpPr/>
          <p:nvPr/>
        </p:nvSpPr>
        <p:spPr>
          <a:xfrm>
            <a:off x="9006840" y="2761488"/>
            <a:ext cx="2423160" cy="457200"/>
          </a:xfrm>
          <a:prstGeom prst="rect">
            <a:avLst/>
          </a:prstGeom>
          <a:noFill/>
          <a:ln/>
        </p:spPr>
        <p:txBody>
          <a:bodyPr wrap="square" lIns="0" tIns="0" rIns="0" bIns="0" rtlCol="0" anchor="t"/>
          <a:lstStyle/>
          <a:p>
            <a:pPr algn="ctr" indent="0" marL="0">
              <a:buNone/>
            </a:pPr>
            <a:r>
              <a:rPr lang="en-US" sz="1200" dirty="0">
                <a:solidFill>
                  <a:srgbClr val="1B2A38"/>
                </a:solidFill>
                <a:latin typeface="Calibri" pitchFamily="34" charset="0"/>
                <a:ea typeface="Calibri" pitchFamily="34" charset="-122"/>
                <a:cs typeface="Calibri" pitchFamily="34" charset="-120"/>
              </a:rPr>
              <a:t>Impossible ages fixed</a:t>
            </a:r>
            <a:endParaRPr lang="en-US" sz="1200" dirty="0"/>
          </a:p>
        </p:txBody>
      </p:sp>
      <p:sp>
        <p:nvSpPr>
          <p:cNvPr id="18" name="Text 16"/>
          <p:cNvSpPr/>
          <p:nvPr/>
        </p:nvSpPr>
        <p:spPr>
          <a:xfrm>
            <a:off x="9006840" y="3108960"/>
            <a:ext cx="2423160" cy="256032"/>
          </a:xfrm>
          <a:prstGeom prst="rect">
            <a:avLst/>
          </a:prstGeom>
          <a:noFill/>
          <a:ln/>
        </p:spPr>
        <p:txBody>
          <a:bodyPr wrap="square" lIns="0" tIns="0" rIns="0" bIns="0" rtlCol="0" anchor="ctr"/>
          <a:lstStyle/>
          <a:p>
            <a:pPr algn="ctr" indent="0" marL="0">
              <a:buNone/>
            </a:pPr>
            <a:r>
              <a:rPr lang="en-US" sz="900" i="1" dirty="0">
                <a:solidFill>
                  <a:srgbClr val="5B6770"/>
                </a:solidFill>
                <a:latin typeface="Calibri" pitchFamily="34" charset="0"/>
                <a:ea typeface="Calibri" pitchFamily="34" charset="-122"/>
                <a:cs typeface="Calibri" pitchFamily="34" charset="-120"/>
              </a:rPr>
              <a:t>age = 200 → capped</a:t>
            </a:r>
            <a:endParaRPr lang="en-US" sz="900" dirty="0"/>
          </a:p>
        </p:txBody>
      </p:sp>
      <p:sp>
        <p:nvSpPr>
          <p:cNvPr id="19" name="Text 17"/>
          <p:cNvSpPr/>
          <p:nvPr/>
        </p:nvSpPr>
        <p:spPr>
          <a:xfrm>
            <a:off x="548640" y="3794760"/>
            <a:ext cx="3657600" cy="365760"/>
          </a:xfrm>
          <a:prstGeom prst="rect">
            <a:avLst/>
          </a:prstGeom>
          <a:noFill/>
          <a:ln/>
        </p:spPr>
        <p:txBody>
          <a:bodyPr wrap="square" lIns="0" tIns="0" rIns="0" bIns="0" rtlCol="0" anchor="ctr"/>
          <a:lstStyle/>
          <a:p>
            <a:pPr indent="0" marL="0">
              <a:buNone/>
            </a:pPr>
            <a:r>
              <a:rPr lang="en-US" sz="1400" b="1" dirty="0">
                <a:solidFill>
                  <a:srgbClr val="1B2A38"/>
                </a:solidFill>
                <a:latin typeface="Calibri" pitchFamily="34" charset="0"/>
                <a:ea typeface="Calibri" pitchFamily="34" charset="-122"/>
                <a:cs typeface="Calibri" pitchFamily="34" charset="-120"/>
              </a:rPr>
              <a:t>8 predictors</a:t>
            </a:r>
            <a:endParaRPr lang="en-US" sz="1400" dirty="0"/>
          </a:p>
        </p:txBody>
      </p:sp>
      <p:sp>
        <p:nvSpPr>
          <p:cNvPr id="20" name="Shape 18"/>
          <p:cNvSpPr/>
          <p:nvPr/>
        </p:nvSpPr>
        <p:spPr>
          <a:xfrm>
            <a:off x="548640" y="4160520"/>
            <a:ext cx="548640" cy="310896"/>
          </a:xfrm>
          <a:prstGeom prst="roundRect">
            <a:avLst>
              <a:gd name="adj" fmla="val 50000"/>
            </a:avLst>
          </a:prstGeom>
          <a:solidFill>
            <a:srgbClr val="0090DA"/>
          </a:solidFill>
          <a:ln/>
        </p:spPr>
      </p:sp>
      <p:sp>
        <p:nvSpPr>
          <p:cNvPr id="21" name="Text 19"/>
          <p:cNvSpPr/>
          <p:nvPr/>
        </p:nvSpPr>
        <p:spPr>
          <a:xfrm>
            <a:off x="548640" y="4160520"/>
            <a:ext cx="54864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a:t>
            </a:r>
            <a:endParaRPr lang="en-US" sz="1100" dirty="0"/>
          </a:p>
        </p:txBody>
      </p:sp>
      <p:sp>
        <p:nvSpPr>
          <p:cNvPr id="22" name="Shape 20"/>
          <p:cNvSpPr/>
          <p:nvPr/>
        </p:nvSpPr>
        <p:spPr>
          <a:xfrm>
            <a:off x="1243584" y="4160520"/>
            <a:ext cx="1371600" cy="310896"/>
          </a:xfrm>
          <a:prstGeom prst="roundRect">
            <a:avLst>
              <a:gd name="adj" fmla="val 50000"/>
            </a:avLst>
          </a:prstGeom>
          <a:solidFill>
            <a:srgbClr val="0090DA"/>
          </a:solidFill>
          <a:ln/>
        </p:spPr>
      </p:sp>
      <p:sp>
        <p:nvSpPr>
          <p:cNvPr id="23" name="Text 21"/>
          <p:cNvSpPr/>
          <p:nvPr/>
        </p:nvSpPr>
        <p:spPr>
          <a:xfrm>
            <a:off x="1243584" y="4160520"/>
            <a:ext cx="137160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health_score</a:t>
            </a:r>
            <a:endParaRPr lang="en-US" sz="1100" dirty="0"/>
          </a:p>
        </p:txBody>
      </p:sp>
      <p:sp>
        <p:nvSpPr>
          <p:cNvPr id="24" name="Shape 22"/>
          <p:cNvSpPr/>
          <p:nvPr/>
        </p:nvSpPr>
        <p:spPr>
          <a:xfrm>
            <a:off x="2761488" y="4160520"/>
            <a:ext cx="2011680" cy="310896"/>
          </a:xfrm>
          <a:prstGeom prst="roundRect">
            <a:avLst>
              <a:gd name="adj" fmla="val 50000"/>
            </a:avLst>
          </a:prstGeom>
          <a:solidFill>
            <a:srgbClr val="5B6770"/>
          </a:solidFill>
          <a:ln/>
        </p:spPr>
      </p:sp>
      <p:sp>
        <p:nvSpPr>
          <p:cNvPr id="25" name="Text 23"/>
          <p:cNvSpPr/>
          <p:nvPr/>
        </p:nvSpPr>
        <p:spPr>
          <a:xfrm>
            <a:off x="2761488" y="4160520"/>
            <a:ext cx="201168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has_chronic_disease</a:t>
            </a:r>
            <a:endParaRPr lang="en-US" sz="1100" dirty="0"/>
          </a:p>
        </p:txBody>
      </p:sp>
      <p:sp>
        <p:nvSpPr>
          <p:cNvPr id="26" name="Shape 24"/>
          <p:cNvSpPr/>
          <p:nvPr/>
        </p:nvSpPr>
        <p:spPr>
          <a:xfrm>
            <a:off x="4919472" y="4160520"/>
            <a:ext cx="548640" cy="310896"/>
          </a:xfrm>
          <a:prstGeom prst="roundRect">
            <a:avLst>
              <a:gd name="adj" fmla="val 50000"/>
            </a:avLst>
          </a:prstGeom>
          <a:solidFill>
            <a:srgbClr val="5B6770"/>
          </a:solidFill>
          <a:ln/>
        </p:spPr>
      </p:sp>
      <p:sp>
        <p:nvSpPr>
          <p:cNvPr id="27" name="Text 25"/>
          <p:cNvSpPr/>
          <p:nvPr/>
        </p:nvSpPr>
        <p:spPr>
          <a:xfrm>
            <a:off x="4919472" y="4160520"/>
            <a:ext cx="54864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bmi</a:t>
            </a:r>
            <a:endParaRPr lang="en-US" sz="1100" dirty="0"/>
          </a:p>
        </p:txBody>
      </p:sp>
      <p:sp>
        <p:nvSpPr>
          <p:cNvPr id="28" name="Shape 26"/>
          <p:cNvSpPr/>
          <p:nvPr/>
        </p:nvSpPr>
        <p:spPr>
          <a:xfrm>
            <a:off x="5614416" y="4160520"/>
            <a:ext cx="1463040" cy="310896"/>
          </a:xfrm>
          <a:prstGeom prst="roundRect">
            <a:avLst>
              <a:gd name="adj" fmla="val 50000"/>
            </a:avLst>
          </a:prstGeom>
          <a:solidFill>
            <a:srgbClr val="5B6770"/>
          </a:solidFill>
          <a:ln/>
        </p:spPr>
      </p:sp>
      <p:sp>
        <p:nvSpPr>
          <p:cNvPr id="29" name="Text 27"/>
          <p:cNvSpPr/>
          <p:nvPr/>
        </p:nvSpPr>
        <p:spPr>
          <a:xfrm>
            <a:off x="5614416" y="4160520"/>
            <a:ext cx="146304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annual_income</a:t>
            </a:r>
            <a:endParaRPr lang="en-US" sz="1100" dirty="0"/>
          </a:p>
        </p:txBody>
      </p:sp>
      <p:sp>
        <p:nvSpPr>
          <p:cNvPr id="30" name="Shape 28"/>
          <p:cNvSpPr/>
          <p:nvPr/>
        </p:nvSpPr>
        <p:spPr>
          <a:xfrm>
            <a:off x="7223760" y="4160520"/>
            <a:ext cx="1920240" cy="310896"/>
          </a:xfrm>
          <a:prstGeom prst="roundRect">
            <a:avLst>
              <a:gd name="adj" fmla="val 50000"/>
            </a:avLst>
          </a:prstGeom>
          <a:solidFill>
            <a:srgbClr val="5B6770"/>
          </a:solidFill>
          <a:ln/>
        </p:spPr>
      </p:sp>
      <p:sp>
        <p:nvSpPr>
          <p:cNvPr id="31" name="Text 29"/>
          <p:cNvSpPr/>
          <p:nvPr/>
        </p:nvSpPr>
        <p:spPr>
          <a:xfrm>
            <a:off x="7223760" y="4160520"/>
            <a:ext cx="192024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past_claims_amount</a:t>
            </a:r>
            <a:endParaRPr lang="en-US" sz="1100" dirty="0"/>
          </a:p>
        </p:txBody>
      </p:sp>
      <p:sp>
        <p:nvSpPr>
          <p:cNvPr id="32" name="Shape 30"/>
          <p:cNvSpPr/>
          <p:nvPr/>
        </p:nvSpPr>
        <p:spPr>
          <a:xfrm>
            <a:off x="9290304" y="4160520"/>
            <a:ext cx="1280160" cy="310896"/>
          </a:xfrm>
          <a:prstGeom prst="roundRect">
            <a:avLst>
              <a:gd name="adj" fmla="val 50000"/>
            </a:avLst>
          </a:prstGeom>
          <a:solidFill>
            <a:srgbClr val="5B6770"/>
          </a:solidFill>
          <a:ln/>
        </p:spPr>
      </p:sp>
      <p:sp>
        <p:nvSpPr>
          <p:cNvPr id="33" name="Text 31"/>
          <p:cNvSpPr/>
          <p:nvPr/>
        </p:nvSpPr>
        <p:spPr>
          <a:xfrm>
            <a:off x="9290304" y="4160520"/>
            <a:ext cx="128016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policy_type</a:t>
            </a:r>
            <a:endParaRPr lang="en-US" sz="1100" dirty="0"/>
          </a:p>
        </p:txBody>
      </p:sp>
      <p:sp>
        <p:nvSpPr>
          <p:cNvPr id="34" name="Shape 32"/>
          <p:cNvSpPr/>
          <p:nvPr/>
        </p:nvSpPr>
        <p:spPr>
          <a:xfrm>
            <a:off x="548640" y="4892040"/>
            <a:ext cx="11064240" cy="1143000"/>
          </a:xfrm>
          <a:prstGeom prst="roundRect">
            <a:avLst>
              <a:gd name="adj" fmla="val 6400"/>
            </a:avLst>
          </a:prstGeom>
          <a:solidFill>
            <a:srgbClr val="F4F8FB"/>
          </a:solidFill>
          <a:ln w="12700">
            <a:solidFill>
              <a:srgbClr val="E7EFF5"/>
            </a:solidFill>
            <a:prstDash val="solid"/>
          </a:ln>
        </p:spPr>
      </p:sp>
      <p:sp>
        <p:nvSpPr>
          <p:cNvPr id="35" name="Text 33"/>
          <p:cNvSpPr/>
          <p:nvPr/>
        </p:nvSpPr>
        <p:spPr>
          <a:xfrm>
            <a:off x="777240" y="5029200"/>
            <a:ext cx="10607040" cy="914400"/>
          </a:xfrm>
          <a:prstGeom prst="rect">
            <a:avLst/>
          </a:prstGeom>
          <a:noFill/>
          <a:ln/>
        </p:spPr>
        <p:txBody>
          <a:bodyPr wrap="square" lIns="0" tIns="0" rIns="0" bIns="0" rtlCol="0" anchor="ctr"/>
          <a:lstStyle/>
          <a:p>
            <a:pPr indent="0" marL="0">
              <a:lnSpc>
                <a:spcPts val="2000"/>
              </a:lnSpc>
              <a:buNone/>
            </a:pPr>
            <a:r>
              <a:rPr lang="en-US" sz="1350" b="1" dirty="0">
                <a:solidFill>
                  <a:srgbClr val="0090DA"/>
                </a:solidFill>
                <a:latin typeface="Calibri" pitchFamily="34" charset="0"/>
                <a:ea typeface="Calibri" pitchFamily="34" charset="-122"/>
                <a:cs typeface="Calibri" pitchFamily="34" charset="-120"/>
              </a:rPr>
              <a:t>First read:  </a:t>
            </a:r>
            <a:pPr indent="0" marL="0">
              <a:lnSpc>
                <a:spcPts val="2000"/>
              </a:lnSpc>
              <a:buNone/>
            </a:pPr>
            <a:r>
              <a:rPr lang="en-US" sz="1350" dirty="0">
                <a:solidFill>
                  <a:srgbClr val="1B2A38"/>
                </a:solidFill>
                <a:latin typeface="Calibri" pitchFamily="34" charset="0"/>
                <a:ea typeface="Calibri" pitchFamily="34" charset="-122"/>
                <a:cs typeface="Calibri" pitchFamily="34" charset="-120"/>
              </a:rPr>
              <a:t>the target is close to a 46 / 54 split — not the extreme imbalance these problems usually assume. That honesty shapes every downstream choice (see the metrics discussion). Only two features carry real signal.</a:t>
            </a:r>
            <a:endParaRPr lang="en-US" sz="1350" dirty="0"/>
          </a:p>
        </p:txBody>
      </p:sp>
      <p:sp>
        <p:nvSpPr>
          <p:cNvPr id="36" name="Text 34"/>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37" name="Text 35"/>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A disciplined, reproducible pipeline</a:t>
            </a:r>
            <a:endParaRPr lang="en-US" sz="3200" dirty="0"/>
          </a:p>
        </p:txBody>
      </p:sp>
      <p:sp>
        <p:nvSpPr>
          <p:cNvPr id="4" name="Shape 2"/>
          <p:cNvSpPr/>
          <p:nvPr/>
        </p:nvSpPr>
        <p:spPr>
          <a:xfrm>
            <a:off x="548640" y="2011680"/>
            <a:ext cx="2121408" cy="2651760"/>
          </a:xfrm>
          <a:prstGeom prst="roundRect">
            <a:avLst>
              <a:gd name="adj" fmla="val 3448"/>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5" name="Shape 3"/>
          <p:cNvSpPr/>
          <p:nvPr/>
        </p:nvSpPr>
        <p:spPr>
          <a:xfrm>
            <a:off x="1289304" y="2240280"/>
            <a:ext cx="640080" cy="640080"/>
          </a:xfrm>
          <a:prstGeom prst="ellipse">
            <a:avLst/>
          </a:prstGeom>
          <a:solidFill>
            <a:srgbClr val="0090DA"/>
          </a:solidFill>
          <a:ln/>
        </p:spPr>
      </p:sp>
      <p:sp>
        <p:nvSpPr>
          <p:cNvPr id="6" name="Text 4"/>
          <p:cNvSpPr/>
          <p:nvPr/>
        </p:nvSpPr>
        <p:spPr>
          <a:xfrm>
            <a:off x="1289304" y="224028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685800" y="3063240"/>
            <a:ext cx="1847088" cy="548640"/>
          </a:xfrm>
          <a:prstGeom prst="rect">
            <a:avLst/>
          </a:prstGeom>
          <a:noFill/>
          <a:ln/>
        </p:spPr>
        <p:txBody>
          <a:bodyPr wrap="square" lIns="0" tIns="0" rIns="0" bIns="0" rtlCol="0" anchor="ctr"/>
          <a:lstStyle/>
          <a:p>
            <a:pPr algn="ctr" indent="0" marL="0">
              <a:buNone/>
            </a:pPr>
            <a:r>
              <a:rPr lang="en-US" sz="1500" b="1" dirty="0">
                <a:solidFill>
                  <a:srgbClr val="1B2A38"/>
                </a:solidFill>
                <a:latin typeface="Calibri" pitchFamily="34" charset="0"/>
                <a:ea typeface="Calibri" pitchFamily="34" charset="-122"/>
                <a:cs typeface="Calibri" pitchFamily="34" charset="-120"/>
              </a:rPr>
              <a:t>Explore &amp; clean</a:t>
            </a:r>
            <a:endParaRPr lang="en-US" sz="1500" dirty="0"/>
          </a:p>
        </p:txBody>
      </p:sp>
      <p:sp>
        <p:nvSpPr>
          <p:cNvPr id="8" name="Text 6"/>
          <p:cNvSpPr/>
          <p:nvPr/>
        </p:nvSpPr>
        <p:spPr>
          <a:xfrm>
            <a:off x="685800" y="3611880"/>
            <a:ext cx="1847088" cy="914400"/>
          </a:xfrm>
          <a:prstGeom prst="rect">
            <a:avLst/>
          </a:prstGeom>
          <a:noFill/>
          <a:ln/>
        </p:spPr>
        <p:txBody>
          <a:bodyPr wrap="square" lIns="0" tIns="0" rIns="0" bIns="0" rtlCol="0" anchor="t"/>
          <a:lstStyle/>
          <a:p>
            <a:pPr algn="ctr" indent="0" marL="0">
              <a:lnSpc>
                <a:spcPts val="1600"/>
              </a:lnSpc>
              <a:buNone/>
            </a:pPr>
            <a:r>
              <a:rPr lang="en-US" sz="1150" dirty="0">
                <a:solidFill>
                  <a:srgbClr val="5B6770"/>
                </a:solidFill>
                <a:latin typeface="Calibri" pitchFamily="34" charset="0"/>
                <a:ea typeface="Calibri" pitchFamily="34" charset="-122"/>
                <a:cs typeface="Calibri" pitchFamily="34" charset="-120"/>
              </a:rPr>
              <a:t>Profile, fix age outliers, median-impute income</a:t>
            </a:r>
            <a:endParaRPr lang="en-US" sz="1150" dirty="0"/>
          </a:p>
        </p:txBody>
      </p:sp>
      <p:sp>
        <p:nvSpPr>
          <p:cNvPr id="9" name="Text 7"/>
          <p:cNvSpPr/>
          <p:nvPr/>
        </p:nvSpPr>
        <p:spPr>
          <a:xfrm>
            <a:off x="2651760" y="2926080"/>
            <a:ext cx="274320" cy="548640"/>
          </a:xfrm>
          <a:prstGeom prst="rect">
            <a:avLst/>
          </a:prstGeom>
          <a:noFill/>
          <a:ln/>
        </p:spPr>
        <p:txBody>
          <a:bodyPr wrap="square" lIns="0" tIns="0" rIns="0" bIns="0" rtlCol="0" anchor="ctr"/>
          <a:lstStyle/>
          <a:p>
            <a:pPr algn="ctr" indent="0" marL="0">
              <a:buNone/>
            </a:pPr>
            <a:r>
              <a:rPr lang="en-US" sz="3000" b="1" dirty="0">
                <a:solidFill>
                  <a:srgbClr val="0090DA"/>
                </a:solidFill>
                <a:latin typeface="Calibri" pitchFamily="34" charset="0"/>
                <a:ea typeface="Calibri" pitchFamily="34" charset="-122"/>
                <a:cs typeface="Calibri" pitchFamily="34" charset="-120"/>
              </a:rPr>
              <a:t>›</a:t>
            </a:r>
            <a:endParaRPr lang="en-US" sz="3000" dirty="0"/>
          </a:p>
        </p:txBody>
      </p:sp>
      <p:sp>
        <p:nvSpPr>
          <p:cNvPr id="10" name="Shape 8"/>
          <p:cNvSpPr/>
          <p:nvPr/>
        </p:nvSpPr>
        <p:spPr>
          <a:xfrm>
            <a:off x="2852928" y="2011680"/>
            <a:ext cx="2121408" cy="2651760"/>
          </a:xfrm>
          <a:prstGeom prst="roundRect">
            <a:avLst>
              <a:gd name="adj" fmla="val 3448"/>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11" name="Shape 9"/>
          <p:cNvSpPr/>
          <p:nvPr/>
        </p:nvSpPr>
        <p:spPr>
          <a:xfrm>
            <a:off x="3593592" y="2240280"/>
            <a:ext cx="640080" cy="640080"/>
          </a:xfrm>
          <a:prstGeom prst="ellipse">
            <a:avLst/>
          </a:prstGeom>
          <a:solidFill>
            <a:srgbClr val="00A758"/>
          </a:solidFill>
          <a:ln/>
        </p:spPr>
      </p:sp>
      <p:sp>
        <p:nvSpPr>
          <p:cNvPr id="12" name="Text 10"/>
          <p:cNvSpPr/>
          <p:nvPr/>
        </p:nvSpPr>
        <p:spPr>
          <a:xfrm>
            <a:off x="3593592" y="224028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2990088" y="3063240"/>
            <a:ext cx="1847088" cy="548640"/>
          </a:xfrm>
          <a:prstGeom prst="rect">
            <a:avLst/>
          </a:prstGeom>
          <a:noFill/>
          <a:ln/>
        </p:spPr>
        <p:txBody>
          <a:bodyPr wrap="square" lIns="0" tIns="0" rIns="0" bIns="0" rtlCol="0" anchor="ctr"/>
          <a:lstStyle/>
          <a:p>
            <a:pPr algn="ctr" indent="0" marL="0">
              <a:buNone/>
            </a:pPr>
            <a:r>
              <a:rPr lang="en-US" sz="1500" b="1" dirty="0">
                <a:solidFill>
                  <a:srgbClr val="1B2A38"/>
                </a:solidFill>
                <a:latin typeface="Calibri" pitchFamily="34" charset="0"/>
                <a:ea typeface="Calibri" pitchFamily="34" charset="-122"/>
                <a:cs typeface="Calibri" pitchFamily="34" charset="-120"/>
              </a:rPr>
              <a:t>Test hypotheses</a:t>
            </a:r>
            <a:endParaRPr lang="en-US" sz="1500" dirty="0"/>
          </a:p>
        </p:txBody>
      </p:sp>
      <p:sp>
        <p:nvSpPr>
          <p:cNvPr id="14" name="Text 12"/>
          <p:cNvSpPr/>
          <p:nvPr/>
        </p:nvSpPr>
        <p:spPr>
          <a:xfrm>
            <a:off x="2990088" y="3611880"/>
            <a:ext cx="1847088" cy="914400"/>
          </a:xfrm>
          <a:prstGeom prst="rect">
            <a:avLst/>
          </a:prstGeom>
          <a:noFill/>
          <a:ln/>
        </p:spPr>
        <p:txBody>
          <a:bodyPr wrap="square" lIns="0" tIns="0" rIns="0" bIns="0" rtlCol="0" anchor="t"/>
          <a:lstStyle/>
          <a:p>
            <a:pPr algn="ctr" indent="0" marL="0">
              <a:lnSpc>
                <a:spcPts val="1600"/>
              </a:lnSpc>
              <a:buNone/>
            </a:pPr>
            <a:r>
              <a:rPr lang="en-US" sz="1150" dirty="0">
                <a:solidFill>
                  <a:srgbClr val="5B6770"/>
                </a:solidFill>
                <a:latin typeface="Calibri" pitchFamily="34" charset="0"/>
                <a:ea typeface="Calibri" pitchFamily="34" charset="-122"/>
                <a:cs typeface="Calibri" pitchFamily="34" charset="-120"/>
              </a:rPr>
              <a:t>t-test, Chi-square, correlation &amp; VIF</a:t>
            </a:r>
            <a:endParaRPr lang="en-US" sz="1150" dirty="0"/>
          </a:p>
        </p:txBody>
      </p:sp>
      <p:sp>
        <p:nvSpPr>
          <p:cNvPr id="15" name="Text 13"/>
          <p:cNvSpPr/>
          <p:nvPr/>
        </p:nvSpPr>
        <p:spPr>
          <a:xfrm>
            <a:off x="4956048" y="2926080"/>
            <a:ext cx="274320" cy="548640"/>
          </a:xfrm>
          <a:prstGeom prst="rect">
            <a:avLst/>
          </a:prstGeom>
          <a:noFill/>
          <a:ln/>
        </p:spPr>
        <p:txBody>
          <a:bodyPr wrap="square" lIns="0" tIns="0" rIns="0" bIns="0" rtlCol="0" anchor="ctr"/>
          <a:lstStyle/>
          <a:p>
            <a:pPr algn="ctr" indent="0" marL="0">
              <a:buNone/>
            </a:pPr>
            <a:r>
              <a:rPr lang="en-US" sz="3000" b="1" dirty="0">
                <a:solidFill>
                  <a:srgbClr val="0090DA"/>
                </a:solidFill>
                <a:latin typeface="Calibri" pitchFamily="34" charset="0"/>
                <a:ea typeface="Calibri" pitchFamily="34" charset="-122"/>
                <a:cs typeface="Calibri" pitchFamily="34" charset="-120"/>
              </a:rPr>
              <a:t>›</a:t>
            </a:r>
            <a:endParaRPr lang="en-US" sz="3000" dirty="0"/>
          </a:p>
        </p:txBody>
      </p:sp>
      <p:sp>
        <p:nvSpPr>
          <p:cNvPr id="16" name="Shape 14"/>
          <p:cNvSpPr/>
          <p:nvPr/>
        </p:nvSpPr>
        <p:spPr>
          <a:xfrm>
            <a:off x="5157216" y="2011680"/>
            <a:ext cx="2121408" cy="2651760"/>
          </a:xfrm>
          <a:prstGeom prst="roundRect">
            <a:avLst>
              <a:gd name="adj" fmla="val 3448"/>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17" name="Shape 15"/>
          <p:cNvSpPr/>
          <p:nvPr/>
        </p:nvSpPr>
        <p:spPr>
          <a:xfrm>
            <a:off x="5897880" y="2240280"/>
            <a:ext cx="640080" cy="640080"/>
          </a:xfrm>
          <a:prstGeom prst="ellipse">
            <a:avLst/>
          </a:prstGeom>
          <a:solidFill>
            <a:srgbClr val="0090DA"/>
          </a:solidFill>
          <a:ln/>
        </p:spPr>
      </p:sp>
      <p:sp>
        <p:nvSpPr>
          <p:cNvPr id="18" name="Text 16"/>
          <p:cNvSpPr/>
          <p:nvPr/>
        </p:nvSpPr>
        <p:spPr>
          <a:xfrm>
            <a:off x="5897880" y="224028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5294376" y="3063240"/>
            <a:ext cx="1847088" cy="548640"/>
          </a:xfrm>
          <a:prstGeom prst="rect">
            <a:avLst/>
          </a:prstGeom>
          <a:noFill/>
          <a:ln/>
        </p:spPr>
        <p:txBody>
          <a:bodyPr wrap="square" lIns="0" tIns="0" rIns="0" bIns="0" rtlCol="0" anchor="ctr"/>
          <a:lstStyle/>
          <a:p>
            <a:pPr algn="ctr" indent="0" marL="0">
              <a:buNone/>
            </a:pPr>
            <a:r>
              <a:rPr lang="en-US" sz="1500" b="1" dirty="0">
                <a:solidFill>
                  <a:srgbClr val="1B2A38"/>
                </a:solidFill>
                <a:latin typeface="Calibri" pitchFamily="34" charset="0"/>
                <a:ea typeface="Calibri" pitchFamily="34" charset="-122"/>
                <a:cs typeface="Calibri" pitchFamily="34" charset="-120"/>
              </a:rPr>
              <a:t>Model bake-off</a:t>
            </a:r>
            <a:endParaRPr lang="en-US" sz="1500" dirty="0"/>
          </a:p>
        </p:txBody>
      </p:sp>
      <p:sp>
        <p:nvSpPr>
          <p:cNvPr id="20" name="Text 18"/>
          <p:cNvSpPr/>
          <p:nvPr/>
        </p:nvSpPr>
        <p:spPr>
          <a:xfrm>
            <a:off x="5294376" y="3611880"/>
            <a:ext cx="1847088" cy="914400"/>
          </a:xfrm>
          <a:prstGeom prst="rect">
            <a:avLst/>
          </a:prstGeom>
          <a:noFill/>
          <a:ln/>
        </p:spPr>
        <p:txBody>
          <a:bodyPr wrap="square" lIns="0" tIns="0" rIns="0" bIns="0" rtlCol="0" anchor="t"/>
          <a:lstStyle/>
          <a:p>
            <a:pPr algn="ctr" indent="0" marL="0">
              <a:lnSpc>
                <a:spcPts val="1600"/>
              </a:lnSpc>
              <a:buNone/>
            </a:pPr>
            <a:r>
              <a:rPr lang="en-US" sz="1150" dirty="0">
                <a:solidFill>
                  <a:srgbClr val="5B6770"/>
                </a:solidFill>
                <a:latin typeface="Calibri" pitchFamily="34" charset="0"/>
                <a:ea typeface="Calibri" pitchFamily="34" charset="-122"/>
                <a:cs typeface="Calibri" pitchFamily="34" charset="-120"/>
              </a:rPr>
              <a:t>LogReg vs Random Forest vs Gradient Boosting</a:t>
            </a:r>
            <a:endParaRPr lang="en-US" sz="1150" dirty="0"/>
          </a:p>
        </p:txBody>
      </p:sp>
      <p:sp>
        <p:nvSpPr>
          <p:cNvPr id="21" name="Text 19"/>
          <p:cNvSpPr/>
          <p:nvPr/>
        </p:nvSpPr>
        <p:spPr>
          <a:xfrm>
            <a:off x="7260336" y="2926080"/>
            <a:ext cx="274320" cy="548640"/>
          </a:xfrm>
          <a:prstGeom prst="rect">
            <a:avLst/>
          </a:prstGeom>
          <a:noFill/>
          <a:ln/>
        </p:spPr>
        <p:txBody>
          <a:bodyPr wrap="square" lIns="0" tIns="0" rIns="0" bIns="0" rtlCol="0" anchor="ctr"/>
          <a:lstStyle/>
          <a:p>
            <a:pPr algn="ctr" indent="0" marL="0">
              <a:buNone/>
            </a:pPr>
            <a:r>
              <a:rPr lang="en-US" sz="3000" b="1" dirty="0">
                <a:solidFill>
                  <a:srgbClr val="0090DA"/>
                </a:solidFill>
                <a:latin typeface="Calibri" pitchFamily="34" charset="0"/>
                <a:ea typeface="Calibri" pitchFamily="34" charset="-122"/>
                <a:cs typeface="Calibri" pitchFamily="34" charset="-120"/>
              </a:rPr>
              <a:t>›</a:t>
            </a:r>
            <a:endParaRPr lang="en-US" sz="3000" dirty="0"/>
          </a:p>
        </p:txBody>
      </p:sp>
      <p:sp>
        <p:nvSpPr>
          <p:cNvPr id="22" name="Shape 20"/>
          <p:cNvSpPr/>
          <p:nvPr/>
        </p:nvSpPr>
        <p:spPr>
          <a:xfrm>
            <a:off x="7461504" y="2011680"/>
            <a:ext cx="2121408" cy="2651760"/>
          </a:xfrm>
          <a:prstGeom prst="roundRect">
            <a:avLst>
              <a:gd name="adj" fmla="val 3448"/>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23" name="Shape 21"/>
          <p:cNvSpPr/>
          <p:nvPr/>
        </p:nvSpPr>
        <p:spPr>
          <a:xfrm>
            <a:off x="8202168" y="2240280"/>
            <a:ext cx="640080" cy="640080"/>
          </a:xfrm>
          <a:prstGeom prst="ellipse">
            <a:avLst/>
          </a:prstGeom>
          <a:solidFill>
            <a:srgbClr val="E4002B"/>
          </a:solidFill>
          <a:ln/>
        </p:spPr>
      </p:sp>
      <p:sp>
        <p:nvSpPr>
          <p:cNvPr id="24" name="Text 22"/>
          <p:cNvSpPr/>
          <p:nvPr/>
        </p:nvSpPr>
        <p:spPr>
          <a:xfrm>
            <a:off x="8202168" y="224028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5" name="Text 23"/>
          <p:cNvSpPr/>
          <p:nvPr/>
        </p:nvSpPr>
        <p:spPr>
          <a:xfrm>
            <a:off x="7598664" y="3063240"/>
            <a:ext cx="1847088" cy="548640"/>
          </a:xfrm>
          <a:prstGeom prst="rect">
            <a:avLst/>
          </a:prstGeom>
          <a:noFill/>
          <a:ln/>
        </p:spPr>
        <p:txBody>
          <a:bodyPr wrap="square" lIns="0" tIns="0" rIns="0" bIns="0" rtlCol="0" anchor="ctr"/>
          <a:lstStyle/>
          <a:p>
            <a:pPr algn="ctr" indent="0" marL="0">
              <a:buNone/>
            </a:pPr>
            <a:r>
              <a:rPr lang="en-US" sz="1500" b="1" dirty="0">
                <a:solidFill>
                  <a:srgbClr val="1B2A38"/>
                </a:solidFill>
                <a:latin typeface="Calibri" pitchFamily="34" charset="0"/>
                <a:ea typeface="Calibri" pitchFamily="34" charset="-122"/>
                <a:cs typeface="Calibri" pitchFamily="34" charset="-120"/>
              </a:rPr>
              <a:t>Business insight</a:t>
            </a:r>
            <a:endParaRPr lang="en-US" sz="1500" dirty="0"/>
          </a:p>
        </p:txBody>
      </p:sp>
      <p:sp>
        <p:nvSpPr>
          <p:cNvPr id="26" name="Text 24"/>
          <p:cNvSpPr/>
          <p:nvPr/>
        </p:nvSpPr>
        <p:spPr>
          <a:xfrm>
            <a:off x="7598664" y="3611880"/>
            <a:ext cx="1847088" cy="914400"/>
          </a:xfrm>
          <a:prstGeom prst="rect">
            <a:avLst/>
          </a:prstGeom>
          <a:noFill/>
          <a:ln/>
        </p:spPr>
        <p:txBody>
          <a:bodyPr wrap="square" lIns="0" tIns="0" rIns="0" bIns="0" rtlCol="0" anchor="t"/>
          <a:lstStyle/>
          <a:p>
            <a:pPr algn="ctr" indent="0" marL="0">
              <a:lnSpc>
                <a:spcPts val="1600"/>
              </a:lnSpc>
              <a:buNone/>
            </a:pPr>
            <a:r>
              <a:rPr lang="en-US" sz="1150" dirty="0">
                <a:solidFill>
                  <a:srgbClr val="5B6770"/>
                </a:solidFill>
                <a:latin typeface="Calibri" pitchFamily="34" charset="0"/>
                <a:ea typeface="Calibri" pitchFamily="34" charset="-122"/>
                <a:cs typeface="Calibri" pitchFamily="34" charset="-120"/>
              </a:rPr>
              <a:t>Drivers, odds ratios, threshold economics</a:t>
            </a:r>
            <a:endParaRPr lang="en-US" sz="1150" dirty="0"/>
          </a:p>
        </p:txBody>
      </p:sp>
      <p:sp>
        <p:nvSpPr>
          <p:cNvPr id="27" name="Text 25"/>
          <p:cNvSpPr/>
          <p:nvPr/>
        </p:nvSpPr>
        <p:spPr>
          <a:xfrm>
            <a:off x="9564624" y="2926080"/>
            <a:ext cx="274320" cy="548640"/>
          </a:xfrm>
          <a:prstGeom prst="rect">
            <a:avLst/>
          </a:prstGeom>
          <a:noFill/>
          <a:ln/>
        </p:spPr>
        <p:txBody>
          <a:bodyPr wrap="square" lIns="0" tIns="0" rIns="0" bIns="0" rtlCol="0" anchor="ctr"/>
          <a:lstStyle/>
          <a:p>
            <a:pPr algn="ctr" indent="0" marL="0">
              <a:buNone/>
            </a:pPr>
            <a:r>
              <a:rPr lang="en-US" sz="3000" b="1" dirty="0">
                <a:solidFill>
                  <a:srgbClr val="0090DA"/>
                </a:solidFill>
                <a:latin typeface="Calibri" pitchFamily="34" charset="0"/>
                <a:ea typeface="Calibri" pitchFamily="34" charset="-122"/>
                <a:cs typeface="Calibri" pitchFamily="34" charset="-120"/>
              </a:rPr>
              <a:t>›</a:t>
            </a:r>
            <a:endParaRPr lang="en-US" sz="3000" dirty="0"/>
          </a:p>
        </p:txBody>
      </p:sp>
      <p:sp>
        <p:nvSpPr>
          <p:cNvPr id="28" name="Shape 26"/>
          <p:cNvSpPr/>
          <p:nvPr/>
        </p:nvSpPr>
        <p:spPr>
          <a:xfrm>
            <a:off x="9765792" y="2011680"/>
            <a:ext cx="2121408" cy="2651760"/>
          </a:xfrm>
          <a:prstGeom prst="roundRect">
            <a:avLst>
              <a:gd name="adj" fmla="val 3448"/>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29" name="Shape 27"/>
          <p:cNvSpPr/>
          <p:nvPr/>
        </p:nvSpPr>
        <p:spPr>
          <a:xfrm>
            <a:off x="10506456" y="2240280"/>
            <a:ext cx="640080" cy="640080"/>
          </a:xfrm>
          <a:prstGeom prst="ellipse">
            <a:avLst/>
          </a:prstGeom>
          <a:solidFill>
            <a:srgbClr val="12283A"/>
          </a:solidFill>
          <a:ln/>
        </p:spPr>
      </p:sp>
      <p:sp>
        <p:nvSpPr>
          <p:cNvPr id="30" name="Text 28"/>
          <p:cNvSpPr/>
          <p:nvPr/>
        </p:nvSpPr>
        <p:spPr>
          <a:xfrm>
            <a:off x="10506456" y="2240280"/>
            <a:ext cx="64008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5</a:t>
            </a:r>
            <a:endParaRPr lang="en-US" sz="2600" dirty="0"/>
          </a:p>
        </p:txBody>
      </p:sp>
      <p:sp>
        <p:nvSpPr>
          <p:cNvPr id="31" name="Text 29"/>
          <p:cNvSpPr/>
          <p:nvPr/>
        </p:nvSpPr>
        <p:spPr>
          <a:xfrm>
            <a:off x="9902952" y="3063240"/>
            <a:ext cx="1847088" cy="548640"/>
          </a:xfrm>
          <a:prstGeom prst="rect">
            <a:avLst/>
          </a:prstGeom>
          <a:noFill/>
          <a:ln/>
        </p:spPr>
        <p:txBody>
          <a:bodyPr wrap="square" lIns="0" tIns="0" rIns="0" bIns="0" rtlCol="0" anchor="ctr"/>
          <a:lstStyle/>
          <a:p>
            <a:pPr algn="ctr" indent="0" marL="0">
              <a:buNone/>
            </a:pPr>
            <a:r>
              <a:rPr lang="en-US" sz="1500" b="1" dirty="0">
                <a:solidFill>
                  <a:srgbClr val="1B2A38"/>
                </a:solidFill>
                <a:latin typeface="Calibri" pitchFamily="34" charset="0"/>
                <a:ea typeface="Calibri" pitchFamily="34" charset="-122"/>
                <a:cs typeface="Calibri" pitchFamily="34" charset="-120"/>
              </a:rPr>
              <a:t>Productise</a:t>
            </a:r>
            <a:endParaRPr lang="en-US" sz="1500" dirty="0"/>
          </a:p>
        </p:txBody>
      </p:sp>
      <p:sp>
        <p:nvSpPr>
          <p:cNvPr id="32" name="Text 30"/>
          <p:cNvSpPr/>
          <p:nvPr/>
        </p:nvSpPr>
        <p:spPr>
          <a:xfrm>
            <a:off x="9902952" y="3611880"/>
            <a:ext cx="1847088" cy="914400"/>
          </a:xfrm>
          <a:prstGeom prst="rect">
            <a:avLst/>
          </a:prstGeom>
          <a:noFill/>
          <a:ln/>
        </p:spPr>
        <p:txBody>
          <a:bodyPr wrap="square" lIns="0" tIns="0" rIns="0" bIns="0" rtlCol="0" anchor="t"/>
          <a:lstStyle/>
          <a:p>
            <a:pPr algn="ctr" indent="0" marL="0">
              <a:lnSpc>
                <a:spcPts val="1600"/>
              </a:lnSpc>
              <a:buNone/>
            </a:pPr>
            <a:r>
              <a:rPr lang="en-US" sz="1150" dirty="0">
                <a:solidFill>
                  <a:srgbClr val="5B6770"/>
                </a:solidFill>
                <a:latin typeface="Calibri" pitchFamily="34" charset="0"/>
                <a:ea typeface="Calibri" pitchFamily="34" charset="-122"/>
                <a:cs typeface="Calibri" pitchFamily="34" charset="-120"/>
              </a:rPr>
              <a:t>Streamlit app + GenAI assistant</a:t>
            </a:r>
            <a:endParaRPr lang="en-US" sz="1150" dirty="0"/>
          </a:p>
        </p:txBody>
      </p:sp>
      <p:sp>
        <p:nvSpPr>
          <p:cNvPr id="33" name="Text 31"/>
          <p:cNvSpPr/>
          <p:nvPr/>
        </p:nvSpPr>
        <p:spPr>
          <a:xfrm>
            <a:off x="548640" y="5074920"/>
            <a:ext cx="10972800" cy="457200"/>
          </a:xfrm>
          <a:prstGeom prst="rect">
            <a:avLst/>
          </a:prstGeom>
          <a:noFill/>
          <a:ln/>
        </p:spPr>
        <p:txBody>
          <a:bodyPr wrap="square" lIns="0" tIns="0" rIns="0" bIns="0" rtlCol="0" anchor="ctr"/>
          <a:lstStyle/>
          <a:p>
            <a:pPr algn="ctr" indent="0" marL="0">
              <a:buNone/>
            </a:pPr>
            <a:r>
              <a:rPr lang="en-US" sz="1300" i="1" dirty="0">
                <a:solidFill>
                  <a:srgbClr val="5B6770"/>
                </a:solidFill>
                <a:latin typeface="Calibri" pitchFamily="34" charset="0"/>
                <a:ea typeface="Calibri" pitchFamily="34" charset="-122"/>
                <a:cs typeface="Calibri" pitchFamily="34" charset="-120"/>
              </a:rPr>
              <a:t>Everything is scripted in analysis.py — one command reproduces every number and chart in this deck.</a:t>
            </a:r>
            <a:endParaRPr lang="en-US" sz="1300" dirty="0"/>
          </a:p>
        </p:txBody>
      </p:sp>
      <p:sp>
        <p:nvSpPr>
          <p:cNvPr id="34" name="Text 3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35" name="Text 33"/>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Q1 · PREPROCESSING</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Mean or median? Measure first, then decide</a:t>
            </a:r>
            <a:endParaRPr lang="en-US" sz="3200" dirty="0"/>
          </a:p>
        </p:txBody>
      </p:sp>
      <p:pic>
        <p:nvPicPr>
          <p:cNvPr id="4" name="Image 0" descr="assets/q1_income_distribution.png">    </p:cNvPr>
          <p:cNvPicPr>
            <a:picLocks noChangeAspect="1"/>
          </p:cNvPicPr>
          <p:nvPr/>
        </p:nvPicPr>
        <p:blipFill>
          <a:blip r:embed="rId1"/>
          <a:stretch>
            <a:fillRect/>
          </a:stretch>
        </p:blipFill>
        <p:spPr>
          <a:xfrm>
            <a:off x="548640" y="1828800"/>
            <a:ext cx="6583680" cy="2514600"/>
          </a:xfrm>
          <a:prstGeom prst="rect">
            <a:avLst/>
          </a:prstGeom>
        </p:spPr>
      </p:pic>
      <p:sp>
        <p:nvSpPr>
          <p:cNvPr id="5" name="Text 2"/>
          <p:cNvSpPr/>
          <p:nvPr/>
        </p:nvSpPr>
        <p:spPr>
          <a:xfrm>
            <a:off x="548640" y="4343400"/>
            <a:ext cx="6583680" cy="274320"/>
          </a:xfrm>
          <a:prstGeom prst="rect">
            <a:avLst/>
          </a:prstGeom>
          <a:noFill/>
          <a:ln/>
        </p:spPr>
        <p:txBody>
          <a:bodyPr wrap="square" lIns="0" tIns="0" rIns="0" bIns="0" rtlCol="0" anchor="ctr"/>
          <a:lstStyle/>
          <a:p>
            <a:pPr algn="ctr" indent="0" marL="0">
              <a:buNone/>
            </a:pPr>
            <a:r>
              <a:rPr lang="en-US" sz="1000" i="1" dirty="0">
                <a:solidFill>
                  <a:srgbClr val="5B6770"/>
                </a:solidFill>
                <a:latin typeface="Calibri" pitchFamily="34" charset="0"/>
                <a:ea typeface="Calibri" pitchFamily="34" charset="-122"/>
                <a:cs typeface="Calibri" pitchFamily="34" charset="-120"/>
              </a:rPr>
              <a:t>Figure: annual_income is symmetric; past_claims_amount is the skewed one.</a:t>
            </a:r>
            <a:endParaRPr lang="en-US" sz="1000" dirty="0"/>
          </a:p>
        </p:txBody>
      </p:sp>
      <p:sp>
        <p:nvSpPr>
          <p:cNvPr id="6" name="Shape 3"/>
          <p:cNvSpPr/>
          <p:nvPr/>
        </p:nvSpPr>
        <p:spPr>
          <a:xfrm>
            <a:off x="7406640" y="1965960"/>
            <a:ext cx="146304" cy="146304"/>
          </a:xfrm>
          <a:prstGeom prst="ellipse">
            <a:avLst/>
          </a:prstGeom>
          <a:solidFill>
            <a:srgbClr val="0090DA"/>
          </a:solidFill>
          <a:ln/>
        </p:spPr>
      </p:sp>
      <p:sp>
        <p:nvSpPr>
          <p:cNvPr id="7" name="Text 4"/>
          <p:cNvSpPr/>
          <p:nvPr/>
        </p:nvSpPr>
        <p:spPr>
          <a:xfrm>
            <a:off x="7699248" y="1865376"/>
            <a:ext cx="400507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Skew ≈ 0.04  </a:t>
            </a:r>
            <a:pPr indent="0" marL="0">
              <a:buNone/>
            </a:pPr>
            <a:r>
              <a:rPr lang="en-US" sz="1350" dirty="0">
                <a:solidFill>
                  <a:srgbClr val="5B6770"/>
                </a:solidFill>
                <a:latin typeface="Calibri" pitchFamily="34" charset="0"/>
                <a:ea typeface="Calibri" pitchFamily="34" charset="-122"/>
                <a:cs typeface="Calibri" pitchFamily="34" charset="-120"/>
              </a:rPr>
              <a:t>annual_income is near-symmetric, so mean ≈ median (5009 vs 5007).</a:t>
            </a:r>
            <a:endParaRPr lang="en-US" sz="1350" dirty="0"/>
          </a:p>
        </p:txBody>
      </p:sp>
      <p:sp>
        <p:nvSpPr>
          <p:cNvPr id="8" name="Shape 5"/>
          <p:cNvSpPr/>
          <p:nvPr/>
        </p:nvSpPr>
        <p:spPr>
          <a:xfrm>
            <a:off x="7406640" y="2788920"/>
            <a:ext cx="146304" cy="146304"/>
          </a:xfrm>
          <a:prstGeom prst="ellipse">
            <a:avLst/>
          </a:prstGeom>
          <a:solidFill>
            <a:srgbClr val="00A758"/>
          </a:solidFill>
          <a:ln/>
        </p:spPr>
      </p:sp>
      <p:sp>
        <p:nvSpPr>
          <p:cNvPr id="9" name="Text 6"/>
          <p:cNvSpPr/>
          <p:nvPr/>
        </p:nvSpPr>
        <p:spPr>
          <a:xfrm>
            <a:off x="7699248" y="2688336"/>
            <a:ext cx="400507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Use the median  </a:t>
            </a:r>
            <a:pPr indent="0" marL="0">
              <a:buNone/>
            </a:pPr>
            <a:r>
              <a:rPr lang="en-US" sz="1350" dirty="0">
                <a:solidFill>
                  <a:srgbClr val="5B6770"/>
                </a:solidFill>
                <a:latin typeface="Calibri" pitchFamily="34" charset="0"/>
                <a:ea typeface="Calibri" pitchFamily="34" charset="-122"/>
                <a:cs typeface="Calibri" pitchFamily="34" charset="-120"/>
              </a:rPr>
              <a:t>Robust to outliers and never harmful — the safe default even when skew is mild.</a:t>
            </a:r>
            <a:endParaRPr lang="en-US" sz="1350" dirty="0"/>
          </a:p>
        </p:txBody>
      </p:sp>
      <p:sp>
        <p:nvSpPr>
          <p:cNvPr id="10" name="Shape 7"/>
          <p:cNvSpPr/>
          <p:nvPr/>
        </p:nvSpPr>
        <p:spPr>
          <a:xfrm>
            <a:off x="7406640" y="3611880"/>
            <a:ext cx="146304" cy="146304"/>
          </a:xfrm>
          <a:prstGeom prst="ellipse">
            <a:avLst/>
          </a:prstGeom>
          <a:solidFill>
            <a:srgbClr val="E4002B"/>
          </a:solidFill>
          <a:ln/>
        </p:spPr>
      </p:sp>
      <p:sp>
        <p:nvSpPr>
          <p:cNvPr id="11" name="Text 8"/>
          <p:cNvSpPr/>
          <p:nvPr/>
        </p:nvSpPr>
        <p:spPr>
          <a:xfrm>
            <a:off x="7699248" y="3511296"/>
            <a:ext cx="400507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The real skew  </a:t>
            </a:r>
            <a:pPr indent="0" marL="0">
              <a:buNone/>
            </a:pPr>
            <a:r>
              <a:rPr lang="en-US" sz="1350" dirty="0">
                <a:solidFill>
                  <a:srgbClr val="5B6770"/>
                </a:solidFill>
                <a:latin typeface="Calibri" pitchFamily="34" charset="0"/>
                <a:ea typeface="Calibri" pitchFamily="34" charset="-122"/>
                <a:cs typeface="Calibri" pitchFamily="34" charset="-120"/>
              </a:rPr>
              <a:t>past_claims_amount is genuinely right-skewed (skew 2.002).</a:t>
            </a:r>
            <a:endParaRPr lang="en-US" sz="1350" dirty="0"/>
          </a:p>
        </p:txBody>
      </p:sp>
      <p:sp>
        <p:nvSpPr>
          <p:cNvPr id="12" name="Shape 9"/>
          <p:cNvSpPr/>
          <p:nvPr/>
        </p:nvSpPr>
        <p:spPr>
          <a:xfrm>
            <a:off x="7406640" y="4480560"/>
            <a:ext cx="4297680" cy="1371600"/>
          </a:xfrm>
          <a:prstGeom prst="roundRect">
            <a:avLst>
              <a:gd name="adj" fmla="val 5333"/>
            </a:avLst>
          </a:prstGeom>
          <a:solidFill>
            <a:srgbClr val="F4F8FB"/>
          </a:solidFill>
          <a:ln w="12700">
            <a:solidFill>
              <a:srgbClr val="E7EFF5"/>
            </a:solidFill>
            <a:prstDash val="solid"/>
          </a:ln>
        </p:spPr>
      </p:sp>
      <p:sp>
        <p:nvSpPr>
          <p:cNvPr id="13" name="Text 10"/>
          <p:cNvSpPr/>
          <p:nvPr/>
        </p:nvSpPr>
        <p:spPr>
          <a:xfrm>
            <a:off x="7635240" y="4617720"/>
            <a:ext cx="3840480" cy="1097280"/>
          </a:xfrm>
          <a:prstGeom prst="rect">
            <a:avLst/>
          </a:prstGeom>
          <a:noFill/>
          <a:ln/>
        </p:spPr>
        <p:txBody>
          <a:bodyPr wrap="square" lIns="0" tIns="0" rIns="0" bIns="0" rtlCol="0" anchor="ctr"/>
          <a:lstStyle/>
          <a:p>
            <a:pPr indent="0" marL="0">
              <a:lnSpc>
                <a:spcPts val="1800"/>
              </a:lnSpc>
              <a:buNone/>
            </a:pPr>
            <a:r>
              <a:rPr lang="en-US" sz="1250" b="1" dirty="0">
                <a:solidFill>
                  <a:srgbClr val="0090DA"/>
                </a:solidFill>
                <a:latin typeface="Calibri" pitchFamily="34" charset="0"/>
                <a:ea typeface="Calibri" pitchFamily="34" charset="-122"/>
                <a:cs typeface="Calibri" pitchFamily="34" charset="-120"/>
              </a:rPr>
              <a:t>Senior read:  </a:t>
            </a:r>
            <a:pPr indent="0" marL="0">
              <a:lnSpc>
                <a:spcPts val="1800"/>
              </a:lnSpc>
              <a:buNone/>
            </a:pPr>
            <a:r>
              <a:rPr lang="en-US" sz="1250" dirty="0">
                <a:solidFill>
                  <a:srgbClr val="1B2A38"/>
                </a:solidFill>
                <a:latin typeface="Calibri" pitchFamily="34" charset="0"/>
                <a:ea typeface="Calibri" pitchFamily="34" charset="-122"/>
                <a:cs typeface="Calibri" pitchFamily="34" charset="-120"/>
              </a:rPr>
              <a:t>the "median-because-skew" rule is not actually load-bearing here — proving it with the number is the point.</a:t>
            </a:r>
            <a:endParaRPr lang="en-US" sz="1250" dirty="0"/>
          </a:p>
        </p:txBody>
      </p:sp>
      <p:sp>
        <p:nvSpPr>
          <p:cNvPr id="14" name="Text 11"/>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15" name="Text 12"/>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THE CORE INSIGHT</a:t>
            </a:r>
            <a:endParaRPr lang="en-US" sz="1200" dirty="0"/>
          </a:p>
        </p:txBody>
      </p:sp>
      <p:sp>
        <p:nvSpPr>
          <p:cNvPr id="3" name="Text 1"/>
          <p:cNvSpPr/>
          <p:nvPr/>
        </p:nvSpPr>
        <p:spPr>
          <a:xfrm>
            <a:off x="548640" y="777240"/>
            <a:ext cx="1133856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Two features tell almost the whole story: age &amp; health</a:t>
            </a:r>
            <a:endParaRPr lang="en-US" sz="3200" dirty="0"/>
          </a:p>
        </p:txBody>
      </p:sp>
      <p:pic>
        <p:nvPicPr>
          <p:cNvPr id="4" name="Image 0" descr="assets/q2_healthscore_by_risk.png">    </p:cNvPr>
          <p:cNvPicPr>
            <a:picLocks noChangeAspect="1"/>
          </p:cNvPicPr>
          <p:nvPr/>
        </p:nvPicPr>
        <p:blipFill>
          <a:blip r:embed="rId1"/>
          <a:stretch>
            <a:fillRect/>
          </a:stretch>
        </p:blipFill>
        <p:spPr>
          <a:xfrm>
            <a:off x="548640" y="1874520"/>
            <a:ext cx="3794760" cy="2788920"/>
          </a:xfrm>
          <a:prstGeom prst="rect">
            <a:avLst/>
          </a:prstGeom>
        </p:spPr>
      </p:pic>
      <p:pic>
        <p:nvPicPr>
          <p:cNvPr id="5" name="Image 1" descr="assets/q2_correlation_heatmap.png">    </p:cNvPr>
          <p:cNvPicPr>
            <a:picLocks noChangeAspect="1"/>
          </p:cNvPicPr>
          <p:nvPr/>
        </p:nvPicPr>
        <p:blipFill>
          <a:blip r:embed="rId2"/>
          <a:stretch>
            <a:fillRect/>
          </a:stretch>
        </p:blipFill>
        <p:spPr>
          <a:xfrm>
            <a:off x="4572000" y="1874520"/>
            <a:ext cx="3566160" cy="2834640"/>
          </a:xfrm>
          <a:prstGeom prst="rect">
            <a:avLst/>
          </a:prstGeom>
        </p:spPr>
      </p:pic>
      <p:sp>
        <p:nvSpPr>
          <p:cNvPr id="6" name="Shape 2"/>
          <p:cNvSpPr/>
          <p:nvPr/>
        </p:nvSpPr>
        <p:spPr>
          <a:xfrm>
            <a:off x="8366760" y="1874520"/>
            <a:ext cx="3291840" cy="2834640"/>
          </a:xfrm>
          <a:prstGeom prst="roundRect">
            <a:avLst>
              <a:gd name="adj" fmla="val 2581"/>
            </a:avLst>
          </a:prstGeom>
          <a:solidFill>
            <a:srgbClr val="12283A"/>
          </a:solidFill>
          <a:ln/>
        </p:spPr>
      </p:sp>
      <p:sp>
        <p:nvSpPr>
          <p:cNvPr id="7" name="Text 3"/>
          <p:cNvSpPr/>
          <p:nvPr/>
        </p:nvSpPr>
        <p:spPr>
          <a:xfrm>
            <a:off x="8595360" y="2057400"/>
            <a:ext cx="2926080" cy="274320"/>
          </a:xfrm>
          <a:prstGeom prst="rect">
            <a:avLst/>
          </a:prstGeom>
          <a:noFill/>
          <a:ln/>
        </p:spPr>
        <p:txBody>
          <a:bodyPr wrap="square" lIns="0" tIns="0" rIns="0" bIns="0" rtlCol="0" anchor="ctr"/>
          <a:lstStyle/>
          <a:p>
            <a:pPr indent="0" marL="0">
              <a:buNone/>
            </a:pPr>
            <a:r>
              <a:rPr lang="en-US" sz="1100" b="1" spc="150" kern="0" dirty="0">
                <a:solidFill>
                  <a:srgbClr val="00A758"/>
                </a:solidFill>
                <a:latin typeface="Calibri" pitchFamily="34" charset="0"/>
                <a:ea typeface="Calibri" pitchFamily="34" charset="-122"/>
                <a:cs typeface="Calibri" pitchFamily="34" charset="-120"/>
              </a:rPr>
              <a:t>WHAT DRIVES RISK</a:t>
            </a:r>
            <a:endParaRPr lang="en-US" sz="1100" dirty="0"/>
          </a:p>
        </p:txBody>
      </p:sp>
      <p:sp>
        <p:nvSpPr>
          <p:cNvPr id="8" name="Text 4"/>
          <p:cNvSpPr/>
          <p:nvPr/>
        </p:nvSpPr>
        <p:spPr>
          <a:xfrm>
            <a:off x="8595360" y="2423160"/>
            <a:ext cx="2926080" cy="2194560"/>
          </a:xfrm>
          <a:prstGeom prst="rect">
            <a:avLst/>
          </a:prstGeom>
          <a:noFill/>
          <a:ln/>
        </p:spPr>
        <p:txBody>
          <a:bodyPr wrap="square" lIns="0" tIns="0" rIns="0" bIns="0" rtlCol="0" anchor="t"/>
          <a:lstStyle/>
          <a:p>
            <a:pPr indent="0" marL="0">
              <a:lnSpc>
                <a:spcPts val="1800"/>
              </a:lnSpc>
              <a:buNone/>
            </a:pPr>
            <a:r>
              <a:rPr lang="en-US" sz="1800" b="1" dirty="0">
                <a:solidFill>
                  <a:srgbClr val="FFFFFF"/>
                </a:solidFill>
                <a:latin typeface="Calibri" pitchFamily="34" charset="0"/>
                <a:ea typeface="Calibri" pitchFamily="34" charset="-122"/>
                <a:cs typeface="Calibri" pitchFamily="34" charset="-120"/>
              </a:rPr>
              <a:t>Age  +0.428
</a:t>
            </a:r>
            <a:pPr indent="0" marL="0">
              <a:lnSpc>
                <a:spcPts val="1800"/>
              </a:lnSpc>
              <a:buNone/>
            </a:pPr>
            <a:r>
              <a:rPr lang="en-US" sz="1200" dirty="0">
                <a:solidFill>
                  <a:srgbClr val="CADCEC"/>
                </a:solidFill>
                <a:latin typeface="Calibri" pitchFamily="34" charset="0"/>
                <a:ea typeface="Calibri" pitchFamily="34" charset="-122"/>
                <a:cs typeface="Calibri" pitchFamily="34" charset="-120"/>
              </a:rPr>
              <a:t>risk climbs 21% → 67% with age
</a:t>
            </a:r>
            <a:pPr indent="0" marL="0">
              <a:lnSpc>
                <a:spcPts val="1800"/>
              </a:lnSpc>
              <a:buNone/>
            </a:pPr>
            <a:r>
              <a:rPr lang="en-US" sz="1800" b="1" dirty="0">
                <a:solidFill>
                  <a:srgbClr val="FFFFFF"/>
                </a:solidFill>
                <a:latin typeface="Calibri" pitchFamily="34" charset="0"/>
                <a:ea typeface="Calibri" pitchFamily="34" charset="-122"/>
                <a:cs typeface="Calibri" pitchFamily="34" charset="-120"/>
              </a:rPr>
              <a:t>Health  -0.227
</a:t>
            </a:r>
            <a:pPr indent="0" marL="0">
              <a:lnSpc>
                <a:spcPts val="1800"/>
              </a:lnSpc>
              <a:buNone/>
            </a:pPr>
            <a:r>
              <a:rPr lang="en-US" sz="1200" dirty="0">
                <a:solidFill>
                  <a:srgbClr val="CADCEC"/>
                </a:solidFill>
                <a:latin typeface="Calibri" pitchFamily="34" charset="0"/>
                <a:ea typeface="Calibri" pitchFamily="34" charset="-122"/>
                <a:cs typeface="Calibri" pitchFamily="34" charset="-120"/>
              </a:rPr>
              <a:t>protective; strongly significant
</a:t>
            </a:r>
            <a:pPr indent="0" marL="0">
              <a:lnSpc>
                <a:spcPts val="1800"/>
              </a:lnSpc>
              <a:buNone/>
            </a:pPr>
            <a:r>
              <a:rPr lang="en-US" sz="1500" b="1" dirty="0">
                <a:solidFill>
                  <a:srgbClr val="FFFFFF"/>
                </a:solidFill>
                <a:latin typeface="Calibri" pitchFamily="34" charset="0"/>
                <a:ea typeface="Calibri" pitchFamily="34" charset="-122"/>
                <a:cs typeface="Calibri" pitchFamily="34" charset="-120"/>
              </a:rPr>
              <a:t>Income · BMI · claims ≈ 0
</a:t>
            </a:r>
            <a:pPr indent="0" marL="0">
              <a:lnSpc>
                <a:spcPts val="1800"/>
              </a:lnSpc>
              <a:buNone/>
            </a:pPr>
            <a:r>
              <a:rPr lang="en-US" sz="1200" dirty="0">
                <a:solidFill>
                  <a:srgbClr val="CADCEC"/>
                </a:solidFill>
                <a:latin typeface="Calibri" pitchFamily="34" charset="0"/>
                <a:ea typeface="Calibri" pitchFamily="34" charset="-122"/>
                <a:cs typeface="Calibri" pitchFamily="34" charset="-120"/>
              </a:rPr>
              <a:t>essentially noise</a:t>
            </a:r>
            <a:endParaRPr lang="en-US" sz="1800" dirty="0"/>
          </a:p>
        </p:txBody>
      </p:sp>
      <p:sp>
        <p:nvSpPr>
          <p:cNvPr id="9" name="Text 5"/>
          <p:cNvSpPr/>
          <p:nvPr/>
        </p:nvSpPr>
        <p:spPr>
          <a:xfrm>
            <a:off x="548640" y="4892040"/>
            <a:ext cx="7589520" cy="365760"/>
          </a:xfrm>
          <a:prstGeom prst="rect">
            <a:avLst/>
          </a:prstGeom>
          <a:noFill/>
          <a:ln/>
        </p:spPr>
        <p:txBody>
          <a:bodyPr wrap="square" lIns="0" tIns="0" rIns="0" bIns="0" rtlCol="0" anchor="ctr"/>
          <a:lstStyle/>
          <a:p>
            <a:pPr algn="ctr" indent="0" marL="0">
              <a:buNone/>
            </a:pPr>
            <a:r>
              <a:rPr lang="en-US" sz="1050" i="1" dirty="0">
                <a:solidFill>
                  <a:srgbClr val="5B6770"/>
                </a:solidFill>
                <a:latin typeface="Calibri" pitchFamily="34" charset="0"/>
                <a:ea typeface="Calibri" pitchFamily="34" charset="-122"/>
                <a:cs typeface="Calibri" pitchFamily="34" charset="-120"/>
              </a:rPr>
              <a:t>Left: health_score cleanly separates the two groups.   Right: only age &amp; health_score correlate with the target.</a:t>
            </a:r>
            <a:endParaRPr lang="en-US" sz="1050" dirty="0"/>
          </a:p>
        </p:txBody>
      </p:sp>
      <p:sp>
        <p:nvSpPr>
          <p:cNvPr id="10" name="Text 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11" name="Text 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Q2 · STATISTICAL VALIDATION</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We tested every claim before trusting it</a:t>
            </a:r>
            <a:endParaRPr lang="en-US" sz="3200" dirty="0"/>
          </a:p>
        </p:txBody>
      </p:sp>
      <p:sp>
        <p:nvSpPr>
          <p:cNvPr id="4" name="Shape 2"/>
          <p:cNvSpPr/>
          <p:nvPr/>
        </p:nvSpPr>
        <p:spPr>
          <a:xfrm>
            <a:off x="548640" y="1920240"/>
            <a:ext cx="3520440" cy="3383280"/>
          </a:xfrm>
          <a:prstGeom prst="roundRect">
            <a:avLst>
              <a:gd name="adj" fmla="val 2162"/>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5" name="Shape 3"/>
          <p:cNvSpPr/>
          <p:nvPr/>
        </p:nvSpPr>
        <p:spPr>
          <a:xfrm>
            <a:off x="777240" y="2148840"/>
            <a:ext cx="1554480" cy="310896"/>
          </a:xfrm>
          <a:prstGeom prst="roundRect">
            <a:avLst>
              <a:gd name="adj" fmla="val 50000"/>
            </a:avLst>
          </a:prstGeom>
          <a:solidFill>
            <a:srgbClr val="0090DA"/>
          </a:solidFill>
          <a:ln/>
        </p:spPr>
      </p:sp>
      <p:sp>
        <p:nvSpPr>
          <p:cNvPr id="6" name="Text 4"/>
          <p:cNvSpPr/>
          <p:nvPr/>
        </p:nvSpPr>
        <p:spPr>
          <a:xfrm>
            <a:off x="777240" y="2148840"/>
            <a:ext cx="155448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WELCH'S T-TEST</a:t>
            </a:r>
            <a:endParaRPr lang="en-US" sz="1100" dirty="0"/>
          </a:p>
        </p:txBody>
      </p:sp>
      <p:sp>
        <p:nvSpPr>
          <p:cNvPr id="7" name="Text 5"/>
          <p:cNvSpPr/>
          <p:nvPr/>
        </p:nvSpPr>
        <p:spPr>
          <a:xfrm>
            <a:off x="731520" y="2743200"/>
            <a:ext cx="3154680" cy="822960"/>
          </a:xfrm>
          <a:prstGeom prst="rect">
            <a:avLst/>
          </a:prstGeom>
          <a:noFill/>
          <a:ln/>
        </p:spPr>
        <p:txBody>
          <a:bodyPr wrap="square" lIns="0" tIns="0" rIns="0" bIns="0" rtlCol="0" anchor="ctr"/>
          <a:lstStyle/>
          <a:p>
            <a:pPr indent="0" marL="0">
              <a:buNone/>
            </a:pPr>
            <a:r>
              <a:rPr lang="en-US" sz="3000" b="1" dirty="0">
                <a:solidFill>
                  <a:srgbClr val="0090DA"/>
                </a:solidFill>
                <a:latin typeface="Cambria" pitchFamily="34" charset="0"/>
                <a:ea typeface="Cambria" pitchFamily="34" charset="-122"/>
                <a:cs typeface="Cambria" pitchFamily="34" charset="-120"/>
              </a:rPr>
              <a:t>t = 57</a:t>
            </a:r>
            <a:endParaRPr lang="en-US" sz="3000" dirty="0"/>
          </a:p>
        </p:txBody>
      </p:sp>
      <p:sp>
        <p:nvSpPr>
          <p:cNvPr id="8" name="Text 6"/>
          <p:cNvSpPr/>
          <p:nvPr/>
        </p:nvSpPr>
        <p:spPr>
          <a:xfrm>
            <a:off x="777240" y="3611880"/>
            <a:ext cx="3063240" cy="548640"/>
          </a:xfrm>
          <a:prstGeom prst="rect">
            <a:avLst/>
          </a:prstGeom>
          <a:noFill/>
          <a:ln/>
        </p:spPr>
        <p:txBody>
          <a:bodyPr wrap="square" lIns="0" tIns="0" rIns="0" bIns="0" rtlCol="0" anchor="ctr"/>
          <a:lstStyle/>
          <a:p>
            <a:pPr indent="0" marL="0">
              <a:buNone/>
            </a:pPr>
            <a:r>
              <a:rPr lang="en-US" sz="1400" b="1" dirty="0">
                <a:solidFill>
                  <a:srgbClr val="1B2A38"/>
                </a:solidFill>
                <a:latin typeface="Calibri" pitchFamily="34" charset="0"/>
                <a:ea typeface="Calibri" pitchFamily="34" charset="-122"/>
                <a:cs typeface="Calibri" pitchFamily="34" charset="-120"/>
              </a:rPr>
              <a:t>health_score vs risk</a:t>
            </a:r>
            <a:endParaRPr lang="en-US" sz="1400" dirty="0"/>
          </a:p>
        </p:txBody>
      </p:sp>
      <p:sp>
        <p:nvSpPr>
          <p:cNvPr id="9" name="Text 7"/>
          <p:cNvSpPr/>
          <p:nvPr/>
        </p:nvSpPr>
        <p:spPr>
          <a:xfrm>
            <a:off x="777240" y="4160520"/>
            <a:ext cx="3063240" cy="1005840"/>
          </a:xfrm>
          <a:prstGeom prst="rect">
            <a:avLst/>
          </a:prstGeom>
          <a:noFill/>
          <a:ln/>
        </p:spPr>
        <p:txBody>
          <a:bodyPr wrap="square" lIns="0" tIns="0" rIns="0" bIns="0" rtlCol="0" anchor="ctr"/>
          <a:lstStyle/>
          <a:p>
            <a:pPr indent="0" marL="0">
              <a:lnSpc>
                <a:spcPts val="1700"/>
              </a:lnSpc>
              <a:buNone/>
            </a:pPr>
            <a:r>
              <a:rPr lang="en-US" sz="1200" dirty="0">
                <a:solidFill>
                  <a:srgbClr val="5B6770"/>
                </a:solidFill>
                <a:latin typeface="Calibri" pitchFamily="34" charset="0"/>
                <a:ea typeface="Calibri" pitchFamily="34" charset="-122"/>
                <a:cs typeface="Calibri" pitchFamily="34" charset="-120"/>
              </a:rPr>
              <a:t>p &lt; 0.001. Mean 43.14 (high-risk) vs 56.27 (low). Highly significant.</a:t>
            </a:r>
            <a:endParaRPr lang="en-US" sz="1200" dirty="0"/>
          </a:p>
        </p:txBody>
      </p:sp>
      <p:sp>
        <p:nvSpPr>
          <p:cNvPr id="10" name="Shape 8"/>
          <p:cNvSpPr/>
          <p:nvPr/>
        </p:nvSpPr>
        <p:spPr>
          <a:xfrm>
            <a:off x="4315968" y="1920240"/>
            <a:ext cx="3520440" cy="3383280"/>
          </a:xfrm>
          <a:prstGeom prst="roundRect">
            <a:avLst>
              <a:gd name="adj" fmla="val 2162"/>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11" name="Shape 9"/>
          <p:cNvSpPr/>
          <p:nvPr/>
        </p:nvSpPr>
        <p:spPr>
          <a:xfrm>
            <a:off x="4544568" y="2148840"/>
            <a:ext cx="1554480" cy="310896"/>
          </a:xfrm>
          <a:prstGeom prst="roundRect">
            <a:avLst>
              <a:gd name="adj" fmla="val 50000"/>
            </a:avLst>
          </a:prstGeom>
          <a:solidFill>
            <a:srgbClr val="00A758"/>
          </a:solidFill>
          <a:ln/>
        </p:spPr>
      </p:sp>
      <p:sp>
        <p:nvSpPr>
          <p:cNvPr id="12" name="Text 10"/>
          <p:cNvSpPr/>
          <p:nvPr/>
        </p:nvSpPr>
        <p:spPr>
          <a:xfrm>
            <a:off x="4544568" y="2148840"/>
            <a:ext cx="155448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CHI-SQUARE</a:t>
            </a:r>
            <a:endParaRPr lang="en-US" sz="1100" dirty="0"/>
          </a:p>
        </p:txBody>
      </p:sp>
      <p:sp>
        <p:nvSpPr>
          <p:cNvPr id="13" name="Text 11"/>
          <p:cNvSpPr/>
          <p:nvPr/>
        </p:nvSpPr>
        <p:spPr>
          <a:xfrm>
            <a:off x="4498848" y="2743200"/>
            <a:ext cx="3154680" cy="822960"/>
          </a:xfrm>
          <a:prstGeom prst="rect">
            <a:avLst/>
          </a:prstGeom>
          <a:noFill/>
          <a:ln/>
        </p:spPr>
        <p:txBody>
          <a:bodyPr wrap="square" lIns="0" tIns="0" rIns="0" bIns="0" rtlCol="0" anchor="ctr"/>
          <a:lstStyle/>
          <a:p>
            <a:pPr indent="0" marL="0">
              <a:buNone/>
            </a:pPr>
            <a:r>
              <a:rPr lang="en-US" sz="3000" b="1" dirty="0">
                <a:solidFill>
                  <a:srgbClr val="00A758"/>
                </a:solidFill>
                <a:latin typeface="Cambria" pitchFamily="34" charset="0"/>
                <a:ea typeface="Cambria" pitchFamily="34" charset="-122"/>
                <a:cs typeface="Cambria" pitchFamily="34" charset="-120"/>
              </a:rPr>
              <a:t>χ² = 431</a:t>
            </a:r>
            <a:endParaRPr lang="en-US" sz="3000" dirty="0"/>
          </a:p>
        </p:txBody>
      </p:sp>
      <p:sp>
        <p:nvSpPr>
          <p:cNvPr id="14" name="Text 12"/>
          <p:cNvSpPr/>
          <p:nvPr/>
        </p:nvSpPr>
        <p:spPr>
          <a:xfrm>
            <a:off x="4544568" y="3611880"/>
            <a:ext cx="3063240" cy="548640"/>
          </a:xfrm>
          <a:prstGeom prst="rect">
            <a:avLst/>
          </a:prstGeom>
          <a:noFill/>
          <a:ln/>
        </p:spPr>
        <p:txBody>
          <a:bodyPr wrap="square" lIns="0" tIns="0" rIns="0" bIns="0" rtlCol="0" anchor="ctr"/>
          <a:lstStyle/>
          <a:p>
            <a:pPr indent="0" marL="0">
              <a:buNone/>
            </a:pPr>
            <a:r>
              <a:rPr lang="en-US" sz="1400" b="1" dirty="0">
                <a:solidFill>
                  <a:srgbClr val="1B2A38"/>
                </a:solidFill>
                <a:latin typeface="Calibri" pitchFamily="34" charset="0"/>
                <a:ea typeface="Calibri" pitchFamily="34" charset="-122"/>
                <a:cs typeface="Calibri" pitchFamily="34" charset="-120"/>
              </a:rPr>
              <a:t>chronic disease vs risk</a:t>
            </a:r>
            <a:endParaRPr lang="en-US" sz="1400" dirty="0"/>
          </a:p>
        </p:txBody>
      </p:sp>
      <p:sp>
        <p:nvSpPr>
          <p:cNvPr id="15" name="Text 13"/>
          <p:cNvSpPr/>
          <p:nvPr/>
        </p:nvSpPr>
        <p:spPr>
          <a:xfrm>
            <a:off x="4544568" y="4160520"/>
            <a:ext cx="3063240" cy="1005840"/>
          </a:xfrm>
          <a:prstGeom prst="rect">
            <a:avLst/>
          </a:prstGeom>
          <a:noFill/>
          <a:ln/>
        </p:spPr>
        <p:txBody>
          <a:bodyPr wrap="square" lIns="0" tIns="0" rIns="0" bIns="0" rtlCol="0" anchor="ctr"/>
          <a:lstStyle/>
          <a:p>
            <a:pPr indent="0" marL="0">
              <a:lnSpc>
                <a:spcPts val="1700"/>
              </a:lnSpc>
              <a:buNone/>
            </a:pPr>
            <a:r>
              <a:rPr lang="en-US" sz="1200" dirty="0">
                <a:solidFill>
                  <a:srgbClr val="5B6770"/>
                </a:solidFill>
                <a:latin typeface="Calibri" pitchFamily="34" charset="0"/>
                <a:ea typeface="Calibri" pitchFamily="34" charset="-122"/>
                <a:cs typeface="Calibri" pitchFamily="34" charset="-120"/>
              </a:rPr>
              <a:t>p &lt; 0.001 → significant. policy_type is NOT (χ²=1.12, p=0.57).</a:t>
            </a:r>
            <a:endParaRPr lang="en-US" sz="1200" dirty="0"/>
          </a:p>
        </p:txBody>
      </p:sp>
      <p:sp>
        <p:nvSpPr>
          <p:cNvPr id="16" name="Shape 14"/>
          <p:cNvSpPr/>
          <p:nvPr/>
        </p:nvSpPr>
        <p:spPr>
          <a:xfrm>
            <a:off x="8092440" y="1920240"/>
            <a:ext cx="3520440" cy="3383280"/>
          </a:xfrm>
          <a:prstGeom prst="roundRect">
            <a:avLst>
              <a:gd name="adj" fmla="val 2162"/>
            </a:avLst>
          </a:prstGeom>
          <a:solidFill>
            <a:srgbClr val="FFFFFF"/>
          </a:solidFill>
          <a:ln w="12700">
            <a:solidFill>
              <a:srgbClr val="E7EFF5"/>
            </a:solidFill>
            <a:prstDash val="solid"/>
          </a:ln>
          <a:effectLst>
            <a:outerShdw sx="100000" sy="100000" kx="0" ky="0" algn="bl" rotWithShape="0" blurRad="63500" dist="25400" dir="5400000">
              <a:srgbClr val="AAB7C4">
                <a:alpha val="30000"/>
              </a:srgbClr>
            </a:outerShdw>
          </a:effectLst>
        </p:spPr>
      </p:sp>
      <p:sp>
        <p:nvSpPr>
          <p:cNvPr id="17" name="Shape 15"/>
          <p:cNvSpPr/>
          <p:nvPr/>
        </p:nvSpPr>
        <p:spPr>
          <a:xfrm>
            <a:off x="8321040" y="2148840"/>
            <a:ext cx="1554480" cy="310896"/>
          </a:xfrm>
          <a:prstGeom prst="roundRect">
            <a:avLst>
              <a:gd name="adj" fmla="val 50000"/>
            </a:avLst>
          </a:prstGeom>
          <a:solidFill>
            <a:srgbClr val="E4002B"/>
          </a:solidFill>
          <a:ln/>
        </p:spPr>
      </p:sp>
      <p:sp>
        <p:nvSpPr>
          <p:cNvPr id="18" name="Text 16"/>
          <p:cNvSpPr/>
          <p:nvPr/>
        </p:nvSpPr>
        <p:spPr>
          <a:xfrm>
            <a:off x="8321040" y="2148840"/>
            <a:ext cx="1554480" cy="310896"/>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VIF</a:t>
            </a:r>
            <a:endParaRPr lang="en-US" sz="1100" dirty="0"/>
          </a:p>
        </p:txBody>
      </p:sp>
      <p:sp>
        <p:nvSpPr>
          <p:cNvPr id="19" name="Text 17"/>
          <p:cNvSpPr/>
          <p:nvPr/>
        </p:nvSpPr>
        <p:spPr>
          <a:xfrm>
            <a:off x="8275320" y="2743200"/>
            <a:ext cx="3154680" cy="822960"/>
          </a:xfrm>
          <a:prstGeom prst="rect">
            <a:avLst/>
          </a:prstGeom>
          <a:noFill/>
          <a:ln/>
        </p:spPr>
        <p:txBody>
          <a:bodyPr wrap="square" lIns="0" tIns="0" rIns="0" bIns="0" rtlCol="0" anchor="ctr"/>
          <a:lstStyle/>
          <a:p>
            <a:pPr indent="0" marL="0">
              <a:buNone/>
            </a:pPr>
            <a:r>
              <a:rPr lang="en-US" sz="3000" b="1" dirty="0">
                <a:solidFill>
                  <a:srgbClr val="E4002B"/>
                </a:solidFill>
                <a:latin typeface="Cambria" pitchFamily="34" charset="0"/>
                <a:ea typeface="Cambria" pitchFamily="34" charset="-122"/>
                <a:cs typeface="Cambria" pitchFamily="34" charset="-120"/>
              </a:rPr>
              <a:t>≈ 1.0</a:t>
            </a:r>
            <a:endParaRPr lang="en-US" sz="3000" dirty="0"/>
          </a:p>
        </p:txBody>
      </p:sp>
      <p:sp>
        <p:nvSpPr>
          <p:cNvPr id="20" name="Text 18"/>
          <p:cNvSpPr/>
          <p:nvPr/>
        </p:nvSpPr>
        <p:spPr>
          <a:xfrm>
            <a:off x="8321040" y="3611880"/>
            <a:ext cx="3063240" cy="548640"/>
          </a:xfrm>
          <a:prstGeom prst="rect">
            <a:avLst/>
          </a:prstGeom>
          <a:noFill/>
          <a:ln/>
        </p:spPr>
        <p:txBody>
          <a:bodyPr wrap="square" lIns="0" tIns="0" rIns="0" bIns="0" rtlCol="0" anchor="ctr"/>
          <a:lstStyle/>
          <a:p>
            <a:pPr indent="0" marL="0">
              <a:buNone/>
            </a:pPr>
            <a:r>
              <a:rPr lang="en-US" sz="1400" b="1" dirty="0">
                <a:solidFill>
                  <a:srgbClr val="1B2A38"/>
                </a:solidFill>
                <a:latin typeface="Calibri" pitchFamily="34" charset="0"/>
                <a:ea typeface="Calibri" pitchFamily="34" charset="-122"/>
                <a:cs typeface="Calibri" pitchFamily="34" charset="-120"/>
              </a:rPr>
              <a:t>multicollinearity check</a:t>
            </a:r>
            <a:endParaRPr lang="en-US" sz="1400" dirty="0"/>
          </a:p>
        </p:txBody>
      </p:sp>
      <p:sp>
        <p:nvSpPr>
          <p:cNvPr id="21" name="Text 19"/>
          <p:cNvSpPr/>
          <p:nvPr/>
        </p:nvSpPr>
        <p:spPr>
          <a:xfrm>
            <a:off x="8321040" y="4160520"/>
            <a:ext cx="3063240" cy="1005840"/>
          </a:xfrm>
          <a:prstGeom prst="rect">
            <a:avLst/>
          </a:prstGeom>
          <a:noFill/>
          <a:ln/>
        </p:spPr>
        <p:txBody>
          <a:bodyPr wrap="square" lIns="0" tIns="0" rIns="0" bIns="0" rtlCol="0" anchor="ctr"/>
          <a:lstStyle/>
          <a:p>
            <a:pPr indent="0" marL="0">
              <a:lnSpc>
                <a:spcPts val="1700"/>
              </a:lnSpc>
              <a:buNone/>
            </a:pPr>
            <a:r>
              <a:rPr lang="en-US" sz="1200" dirty="0">
                <a:solidFill>
                  <a:srgbClr val="5B6770"/>
                </a:solidFill>
                <a:latin typeface="Calibri" pitchFamily="34" charset="0"/>
                <a:ea typeface="Calibri" pitchFamily="34" charset="-122"/>
                <a:cs typeface="Calibri" pitchFamily="34" charset="-120"/>
              </a:rPr>
              <a:t>All predictors mutually uncorrelated (VIF≈1; &gt;5 is a problem). No features dropped; L2 regularization as safeguard.</a:t>
            </a:r>
            <a:endParaRPr lang="en-US" sz="1200" dirty="0"/>
          </a:p>
        </p:txBody>
      </p:sp>
      <p:sp>
        <p:nvSpPr>
          <p:cNvPr id="22" name="Text 20"/>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23" name="Text 2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Q3 · MODEL SELECTION</a:t>
            </a:r>
            <a:endParaRPr lang="en-US" sz="1200" dirty="0"/>
          </a:p>
        </p:txBody>
      </p:sp>
      <p:sp>
        <p:nvSpPr>
          <p:cNvPr id="3" name="Text 1"/>
          <p:cNvSpPr/>
          <p:nvPr/>
        </p:nvSpPr>
        <p:spPr>
          <a:xfrm>
            <a:off x="548640" y="777240"/>
            <a:ext cx="1133856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The simplest model wins — and it is the most explainable</a:t>
            </a:r>
            <a:endParaRPr lang="en-US" sz="3200" dirty="0"/>
          </a:p>
        </p:txBody>
      </p:sp>
      <p:graphicFrame>
        <p:nvGraphicFramePr>
          <p:cNvPr id="4" name="Chart 0" descr=""/>
          <p:cNvGraphicFramePr/>
          <p:nvPr/>
        </p:nvGraphicFramePr>
        <p:xfrm>
          <a:off x="548640" y="1828800"/>
          <a:ext cx="56692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20640" cy="914400"/>
        </p:xfrm>
        <a:graphic>
          <a:graphicData uri="http://schemas.openxmlformats.org/drawingml/2006/table">
            <a:tbl>
              <a:tblPr/>
              <a:tblGrid>
                <a:gridCol w="2377440"/>
                <a:gridCol w="960120"/>
                <a:gridCol w="914400"/>
                <a:gridCol w="868680"/>
              </a:tblGrid>
              <a:tr h="4572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0090D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AUROC</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0090D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0090D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Acc</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0090DA"/>
                    </a:solidFill>
                  </a:tcPr>
                </a:tc>
              </a:tr>
              <a:tr h="457200">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Logistic Reg. ✓</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0.7803</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0.6739</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0.7108</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r>
              <a:tr h="457200">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Gradient Boost</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0.7796</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0.669</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0.706</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r>
              <a:tr h="457200">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Random Forest</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0.7624</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0.6657</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38"/>
                          </a:solidFill>
                          <a:latin typeface="Calibri" pitchFamily="34" charset="0"/>
                          <a:ea typeface="Calibri" pitchFamily="34" charset="-122"/>
                          <a:cs typeface="Calibri" pitchFamily="34" charset="-120"/>
                        </a:rPr>
                        <a:t>0.7015</a:t>
                      </a:r>
                      <a:endParaRPr lang="en-US" sz="1200" dirty="0">
                        <a:latin typeface="Calibri" charset="0"/>
                        <a:ea typeface="Calibri" charset="0"/>
                        <a:cs typeface="Calibri" charset="0"/>
                      </a:endParaRPr>
                    </a:p>
                  </a:txBody>
                  <a:tcPr marL="91440" marR="91440" marT="45720" marB="45720" anchor="ctr">
                    <a:lnL w="12700" cap="flat" cmpd="sng" algn="ctr">
                      <a:solidFill>
                        <a:srgbClr val="E7EFF5"/>
                      </a:solidFill>
                      <a:prstDash val="solid"/>
                      <a:round/>
                      <a:headEnd type="none" w="med" len="med"/>
                      <a:tailEnd type="none" w="med" len="med"/>
                    </a:lnL>
                    <a:lnR w="12700" cap="flat" cmpd="sng" algn="ctr">
                      <a:solidFill>
                        <a:srgbClr val="E7EFF5"/>
                      </a:solidFill>
                      <a:prstDash val="solid"/>
                      <a:round/>
                      <a:headEnd type="none" w="med" len="med"/>
                      <a:tailEnd type="none" w="med" len="med"/>
                    </a:lnR>
                    <a:lnT w="12700" cap="flat" cmpd="sng" algn="ctr">
                      <a:solidFill>
                        <a:srgbClr val="E7EFF5"/>
                      </a:solidFill>
                      <a:prstDash val="solid"/>
                      <a:round/>
                      <a:headEnd type="none" w="med" len="med"/>
                      <a:tailEnd type="none" w="med" len="med"/>
                    </a:lnT>
                    <a:lnB w="12700" cap="flat" cmpd="sng" algn="ctr">
                      <a:solidFill>
                        <a:srgbClr val="E7EFF5"/>
                      </a:solidFill>
                      <a:prstDash val="solid"/>
                      <a:round/>
                      <a:headEnd type="none" w="med" len="med"/>
                      <a:tailEnd type="none" w="med" len="med"/>
                    </a:lnB>
                    <a:solidFill>
                      <a:srgbClr val="FFFFFF"/>
                    </a:solidFill>
                  </a:tcPr>
                </a:tc>
              </a:tr>
            </a:tbl>
          </a:graphicData>
        </a:graphic>
      </p:graphicFrame>
      <p:sp>
        <p:nvSpPr>
          <p:cNvPr id="6" name="Text 2"/>
          <p:cNvSpPr/>
          <p:nvPr/>
        </p:nvSpPr>
        <p:spPr>
          <a:xfrm>
            <a:off x="6492240" y="4160520"/>
            <a:ext cx="5120640" cy="320040"/>
          </a:xfrm>
          <a:prstGeom prst="rect">
            <a:avLst/>
          </a:prstGeom>
          <a:noFill/>
          <a:ln/>
        </p:spPr>
        <p:txBody>
          <a:bodyPr wrap="square" lIns="0" tIns="0" rIns="0" bIns="0" rtlCol="0" anchor="ctr"/>
          <a:lstStyle/>
          <a:p>
            <a:pPr indent="0" marL="0">
              <a:buNone/>
            </a:pPr>
            <a:r>
              <a:rPr lang="en-US" sz="1400" b="1" dirty="0">
                <a:solidFill>
                  <a:srgbClr val="0090DA"/>
                </a:solidFill>
                <a:latin typeface="Calibri" pitchFamily="34" charset="0"/>
                <a:ea typeface="Calibri" pitchFamily="34" charset="-122"/>
                <a:cs typeface="Calibri" pitchFamily="34" charset="-120"/>
              </a:rPr>
              <a:t>Why F1 / AUROC over Accuracy?</a:t>
            </a:r>
            <a:endParaRPr lang="en-US" sz="1400" dirty="0"/>
          </a:p>
        </p:txBody>
      </p:sp>
      <p:sp>
        <p:nvSpPr>
          <p:cNvPr id="7" name="Text 3"/>
          <p:cNvSpPr/>
          <p:nvPr/>
        </p:nvSpPr>
        <p:spPr>
          <a:xfrm>
            <a:off x="6492240" y="4526280"/>
            <a:ext cx="5120640" cy="1097280"/>
          </a:xfrm>
          <a:prstGeom prst="rect">
            <a:avLst/>
          </a:prstGeom>
          <a:noFill/>
          <a:ln/>
        </p:spPr>
        <p:txBody>
          <a:bodyPr wrap="square" lIns="0" tIns="0" rIns="0" bIns="0" rtlCol="0" anchor="ctr"/>
          <a:lstStyle/>
          <a:p>
            <a:pPr indent="0" marL="0">
              <a:lnSpc>
                <a:spcPts val="1800"/>
              </a:lnSpc>
              <a:buNone/>
            </a:pPr>
            <a:r>
              <a:rPr lang="en-US" sz="1250" dirty="0">
                <a:solidFill>
                  <a:srgbClr val="1B2A38"/>
                </a:solidFill>
                <a:latin typeface="Calibri" pitchFamily="34" charset="0"/>
                <a:ea typeface="Calibri" pitchFamily="34" charset="-122"/>
                <a:cs typeface="Calibri" pitchFamily="34" charset="-120"/>
              </a:rPr>
              <a:t>• Errors are not equally costly — a miss hurts the loss ratio far more.
</a:t>
            </a:r>
            <a:pPr indent="0" marL="0">
              <a:lnSpc>
                <a:spcPts val="1800"/>
              </a:lnSpc>
              <a:buNone/>
            </a:pPr>
            <a:r>
              <a:rPr lang="en-US" sz="1250" dirty="0">
                <a:solidFill>
                  <a:srgbClr val="1B2A38"/>
                </a:solidFill>
                <a:latin typeface="Calibri" pitchFamily="34" charset="0"/>
                <a:ea typeface="Calibri" pitchFamily="34" charset="-122"/>
                <a:cs typeface="Calibri" pitchFamily="34" charset="-120"/>
              </a:rPr>
              <a:t>• AUROC is threshold-free, so we can pick the operating point by business cost.</a:t>
            </a:r>
            <a:endParaRPr lang="en-US" sz="1250" dirty="0"/>
          </a:p>
        </p:txBody>
      </p:sp>
      <p:sp>
        <p:nvSpPr>
          <p:cNvPr id="8" name="Shape 4"/>
          <p:cNvSpPr/>
          <p:nvPr/>
        </p:nvSpPr>
        <p:spPr>
          <a:xfrm>
            <a:off x="548640" y="5212080"/>
            <a:ext cx="5669280" cy="777240"/>
          </a:xfrm>
          <a:prstGeom prst="roundRect">
            <a:avLst>
              <a:gd name="adj" fmla="val 7059"/>
            </a:avLst>
          </a:prstGeom>
          <a:solidFill>
            <a:srgbClr val="F4F8FB"/>
          </a:solidFill>
          <a:ln w="12700">
            <a:solidFill>
              <a:srgbClr val="E7EFF5"/>
            </a:solidFill>
            <a:prstDash val="solid"/>
          </a:ln>
        </p:spPr>
      </p:sp>
      <p:sp>
        <p:nvSpPr>
          <p:cNvPr id="9" name="Text 5"/>
          <p:cNvSpPr/>
          <p:nvPr/>
        </p:nvSpPr>
        <p:spPr>
          <a:xfrm>
            <a:off x="731520" y="5303520"/>
            <a:ext cx="5349240" cy="640080"/>
          </a:xfrm>
          <a:prstGeom prst="rect">
            <a:avLst/>
          </a:prstGeom>
          <a:noFill/>
          <a:ln/>
        </p:spPr>
        <p:txBody>
          <a:bodyPr wrap="square" lIns="0" tIns="0" rIns="0" bIns="0" rtlCol="0" anchor="ctr"/>
          <a:lstStyle/>
          <a:p>
            <a:pPr indent="0" marL="0">
              <a:lnSpc>
                <a:spcPts val="1600"/>
              </a:lnSpc>
              <a:buNone/>
            </a:pPr>
            <a:r>
              <a:rPr lang="en-US" sz="1200" b="1" dirty="0">
                <a:solidFill>
                  <a:srgbClr val="00A758"/>
                </a:solidFill>
                <a:latin typeface="Calibri" pitchFamily="34" charset="0"/>
                <a:ea typeface="Calibri" pitchFamily="34" charset="-122"/>
                <a:cs typeface="Calibri" pitchFamily="34" charset="-120"/>
              </a:rPr>
              <a:t>Explainability:  </a:t>
            </a:r>
            <a:pPr indent="0" marL="0">
              <a:lnSpc>
                <a:spcPts val="1600"/>
              </a:lnSpc>
              <a:buNone/>
            </a:pPr>
            <a:r>
              <a:rPr lang="en-US" sz="1200" dirty="0">
                <a:solidFill>
                  <a:srgbClr val="1B2A38"/>
                </a:solidFill>
                <a:latin typeface="Calibri" pitchFamily="34" charset="0"/>
                <a:ea typeface="Calibri" pitchFamily="34" charset="-122"/>
                <a:cs typeface="Calibri" pitchFamily="34" charset="-120"/>
              </a:rPr>
              <a:t>each coefficient is an odds ratio an underwriter can read — auditable for regulators.</a:t>
            </a:r>
            <a:endParaRPr lang="en-US" sz="1200" dirty="0"/>
          </a:p>
        </p:txBody>
      </p:sp>
      <p:sp>
        <p:nvSpPr>
          <p:cNvPr id="10" name="Text 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11" name="Text 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Q4 · BUSINESS INSIGHT</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What moves the prediction — in plain odds</a:t>
            </a:r>
            <a:endParaRPr lang="en-US" sz="3200" dirty="0"/>
          </a:p>
        </p:txBody>
      </p:sp>
      <p:pic>
        <p:nvPicPr>
          <p:cNvPr id="4" name="Image 0" descr="assets/q4_feature_importance.png">    </p:cNvPr>
          <p:cNvPicPr>
            <a:picLocks noChangeAspect="1"/>
          </p:cNvPicPr>
          <p:nvPr/>
        </p:nvPicPr>
        <p:blipFill>
          <a:blip r:embed="rId1"/>
          <a:stretch>
            <a:fillRect/>
          </a:stretch>
        </p:blipFill>
        <p:spPr>
          <a:xfrm>
            <a:off x="548640" y="1828800"/>
            <a:ext cx="6035040" cy="3063240"/>
          </a:xfrm>
          <a:prstGeom prst="rect">
            <a:avLst/>
          </a:prstGeom>
        </p:spPr>
      </p:pic>
      <p:sp>
        <p:nvSpPr>
          <p:cNvPr id="5" name="Shape 2"/>
          <p:cNvSpPr/>
          <p:nvPr/>
        </p:nvSpPr>
        <p:spPr>
          <a:xfrm>
            <a:off x="6858000" y="1920240"/>
            <a:ext cx="4800600" cy="868680"/>
          </a:xfrm>
          <a:prstGeom prst="roundRect">
            <a:avLst>
              <a:gd name="adj" fmla="val 6316"/>
            </a:avLst>
          </a:prstGeom>
          <a:solidFill>
            <a:srgbClr val="FFFFFF"/>
          </a:solidFill>
          <a:ln w="12700">
            <a:solidFill>
              <a:srgbClr val="E7EFF5"/>
            </a:solidFill>
            <a:prstDash val="solid"/>
          </a:ln>
        </p:spPr>
      </p:sp>
      <p:sp>
        <p:nvSpPr>
          <p:cNvPr id="6" name="Text 3"/>
          <p:cNvSpPr/>
          <p:nvPr/>
        </p:nvSpPr>
        <p:spPr>
          <a:xfrm>
            <a:off x="6995160" y="1938528"/>
            <a:ext cx="1188720" cy="822960"/>
          </a:xfrm>
          <a:prstGeom prst="rect">
            <a:avLst/>
          </a:prstGeom>
          <a:noFill/>
          <a:ln/>
        </p:spPr>
        <p:txBody>
          <a:bodyPr wrap="square" lIns="0" tIns="0" rIns="0" bIns="0" rtlCol="0" anchor="ctr"/>
          <a:lstStyle/>
          <a:p>
            <a:pPr algn="ctr" indent="0" marL="0">
              <a:buNone/>
            </a:pPr>
            <a:r>
              <a:rPr lang="en-US" sz="2600" b="1" dirty="0">
                <a:solidFill>
                  <a:srgbClr val="0090DA"/>
                </a:solidFill>
                <a:latin typeface="Cambria" pitchFamily="34" charset="0"/>
                <a:ea typeface="Cambria" pitchFamily="34" charset="-122"/>
                <a:cs typeface="Cambria" pitchFamily="34" charset="-120"/>
              </a:rPr>
              <a:t>×2.905</a:t>
            </a:r>
            <a:endParaRPr lang="en-US" sz="2600" dirty="0"/>
          </a:p>
        </p:txBody>
      </p:sp>
      <p:sp>
        <p:nvSpPr>
          <p:cNvPr id="7" name="Text 4"/>
          <p:cNvSpPr/>
          <p:nvPr/>
        </p:nvSpPr>
        <p:spPr>
          <a:xfrm>
            <a:off x="8229600" y="1938528"/>
            <a:ext cx="3291840" cy="822960"/>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age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per +1 SD, odds of high-risk ~triple</a:t>
            </a:r>
            <a:endParaRPr lang="en-US" sz="1400" dirty="0"/>
          </a:p>
        </p:txBody>
      </p:sp>
      <p:sp>
        <p:nvSpPr>
          <p:cNvPr id="8" name="Shape 5"/>
          <p:cNvSpPr/>
          <p:nvPr/>
        </p:nvSpPr>
        <p:spPr>
          <a:xfrm>
            <a:off x="6858000" y="2926080"/>
            <a:ext cx="4800600" cy="868680"/>
          </a:xfrm>
          <a:prstGeom prst="roundRect">
            <a:avLst>
              <a:gd name="adj" fmla="val 6316"/>
            </a:avLst>
          </a:prstGeom>
          <a:solidFill>
            <a:srgbClr val="FFFFFF"/>
          </a:solidFill>
          <a:ln w="12700">
            <a:solidFill>
              <a:srgbClr val="E7EFF5"/>
            </a:solidFill>
            <a:prstDash val="solid"/>
          </a:ln>
        </p:spPr>
      </p:sp>
      <p:sp>
        <p:nvSpPr>
          <p:cNvPr id="9" name="Text 6"/>
          <p:cNvSpPr/>
          <p:nvPr/>
        </p:nvSpPr>
        <p:spPr>
          <a:xfrm>
            <a:off x="6995160" y="2944368"/>
            <a:ext cx="1188720" cy="822960"/>
          </a:xfrm>
          <a:prstGeom prst="rect">
            <a:avLst/>
          </a:prstGeom>
          <a:noFill/>
          <a:ln/>
        </p:spPr>
        <p:txBody>
          <a:bodyPr wrap="square" lIns="0" tIns="0" rIns="0" bIns="0" rtlCol="0" anchor="ctr"/>
          <a:lstStyle/>
          <a:p>
            <a:pPr algn="ctr" indent="0" marL="0">
              <a:buNone/>
            </a:pPr>
            <a:r>
              <a:rPr lang="en-US" sz="2600" b="1" dirty="0">
                <a:solidFill>
                  <a:srgbClr val="00A758"/>
                </a:solidFill>
                <a:latin typeface="Cambria" pitchFamily="34" charset="0"/>
                <a:ea typeface="Cambria" pitchFamily="34" charset="-122"/>
                <a:cs typeface="Cambria" pitchFamily="34" charset="-120"/>
              </a:rPr>
              <a:t>×0.552</a:t>
            </a:r>
            <a:endParaRPr lang="en-US" sz="2600" dirty="0"/>
          </a:p>
        </p:txBody>
      </p:sp>
      <p:sp>
        <p:nvSpPr>
          <p:cNvPr id="10" name="Text 7"/>
          <p:cNvSpPr/>
          <p:nvPr/>
        </p:nvSpPr>
        <p:spPr>
          <a:xfrm>
            <a:off x="8229600" y="2944368"/>
            <a:ext cx="3291840" cy="822960"/>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health_score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protective — higher score lowers risk</a:t>
            </a:r>
            <a:endParaRPr lang="en-US" sz="1400" dirty="0"/>
          </a:p>
        </p:txBody>
      </p:sp>
      <p:sp>
        <p:nvSpPr>
          <p:cNvPr id="11" name="Shape 8"/>
          <p:cNvSpPr/>
          <p:nvPr/>
        </p:nvSpPr>
        <p:spPr>
          <a:xfrm>
            <a:off x="6858000" y="3931920"/>
            <a:ext cx="4800600" cy="868680"/>
          </a:xfrm>
          <a:prstGeom prst="roundRect">
            <a:avLst>
              <a:gd name="adj" fmla="val 6316"/>
            </a:avLst>
          </a:prstGeom>
          <a:solidFill>
            <a:srgbClr val="FFFFFF"/>
          </a:solidFill>
          <a:ln w="12700">
            <a:solidFill>
              <a:srgbClr val="E7EFF5"/>
            </a:solidFill>
            <a:prstDash val="solid"/>
          </a:ln>
        </p:spPr>
      </p:sp>
      <p:sp>
        <p:nvSpPr>
          <p:cNvPr id="12" name="Text 9"/>
          <p:cNvSpPr/>
          <p:nvPr/>
        </p:nvSpPr>
        <p:spPr>
          <a:xfrm>
            <a:off x="6995160" y="3950208"/>
            <a:ext cx="1188720" cy="822960"/>
          </a:xfrm>
          <a:prstGeom prst="rect">
            <a:avLst/>
          </a:prstGeom>
          <a:noFill/>
          <a:ln/>
        </p:spPr>
        <p:txBody>
          <a:bodyPr wrap="square" lIns="0" tIns="0" rIns="0" bIns="0" rtlCol="0" anchor="ctr"/>
          <a:lstStyle/>
          <a:p>
            <a:pPr algn="ctr" indent="0" marL="0">
              <a:buNone/>
            </a:pPr>
            <a:r>
              <a:rPr lang="en-US" sz="2600" b="1" dirty="0">
                <a:solidFill>
                  <a:srgbClr val="E4002B"/>
                </a:solidFill>
                <a:latin typeface="Cambria" pitchFamily="34" charset="0"/>
                <a:ea typeface="Cambria" pitchFamily="34" charset="-122"/>
                <a:cs typeface="Cambria" pitchFamily="34" charset="-120"/>
              </a:rPr>
              <a:t>×1.241</a:t>
            </a:r>
            <a:endParaRPr lang="en-US" sz="2600" dirty="0"/>
          </a:p>
        </p:txBody>
      </p:sp>
      <p:sp>
        <p:nvSpPr>
          <p:cNvPr id="13" name="Text 10"/>
          <p:cNvSpPr/>
          <p:nvPr/>
        </p:nvSpPr>
        <p:spPr>
          <a:xfrm>
            <a:off x="8229600" y="3950208"/>
            <a:ext cx="3291840" cy="822960"/>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has_chronic_disease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a smaller upward push</a:t>
            </a:r>
            <a:endParaRPr lang="en-US" sz="1400" dirty="0"/>
          </a:p>
        </p:txBody>
      </p:sp>
      <p:sp>
        <p:nvSpPr>
          <p:cNvPr id="14" name="Text 11"/>
          <p:cNvSpPr/>
          <p:nvPr/>
        </p:nvSpPr>
        <p:spPr>
          <a:xfrm>
            <a:off x="6858000" y="4983480"/>
            <a:ext cx="4800600" cy="640080"/>
          </a:xfrm>
          <a:prstGeom prst="rect">
            <a:avLst/>
          </a:prstGeom>
          <a:noFill/>
          <a:ln/>
        </p:spPr>
        <p:txBody>
          <a:bodyPr wrap="square" lIns="0" tIns="0" rIns="0" bIns="0" rtlCol="0" anchor="ctr"/>
          <a:lstStyle/>
          <a:p>
            <a:pPr indent="0" marL="0">
              <a:lnSpc>
                <a:spcPts val="1600"/>
              </a:lnSpc>
              <a:buNone/>
            </a:pPr>
            <a:r>
              <a:rPr lang="en-US" sz="1200" i="1" dirty="0">
                <a:solidFill>
                  <a:srgbClr val="5B6770"/>
                </a:solidFill>
                <a:latin typeface="Calibri" pitchFamily="34" charset="0"/>
                <a:ea typeface="Calibri" pitchFamily="34" charset="-122"/>
                <a:cs typeface="Calibri" pitchFamily="34" charset="-120"/>
              </a:rPr>
              <a:t>Odds ratios come straight from the model coefficients — this is the explainability underwriters and regulators need.</a:t>
            </a:r>
            <a:endParaRPr lang="en-US" sz="1200" dirty="0"/>
          </a:p>
        </p:txBody>
      </p:sp>
      <p:sp>
        <p:nvSpPr>
          <p:cNvPr id="15" name="Text 1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16" name="Text 13"/>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Q4 · THE BUSINESS LEVER</a:t>
            </a:r>
            <a:endParaRPr lang="en-US" sz="1200" dirty="0"/>
          </a:p>
        </p:txBody>
      </p:sp>
      <p:sp>
        <p:nvSpPr>
          <p:cNvPr id="3" name="Text 1"/>
          <p:cNvSpPr/>
          <p:nvPr/>
        </p:nvSpPr>
        <p:spPr>
          <a:xfrm>
            <a:off x="548640" y="777240"/>
            <a:ext cx="1115568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Should we raise or lower the threshold? Lower it.</a:t>
            </a:r>
            <a:endParaRPr lang="en-US" sz="3200" dirty="0"/>
          </a:p>
        </p:txBody>
      </p:sp>
      <p:pic>
        <p:nvPicPr>
          <p:cNvPr id="4" name="Image 0" descr="assets/q4_threshold_economics.png">    </p:cNvPr>
          <p:cNvPicPr>
            <a:picLocks noChangeAspect="1"/>
          </p:cNvPicPr>
          <p:nvPr/>
        </p:nvPicPr>
        <p:blipFill>
          <a:blip r:embed="rId1"/>
          <a:stretch>
            <a:fillRect/>
          </a:stretch>
        </p:blipFill>
        <p:spPr>
          <a:xfrm>
            <a:off x="548640" y="1828800"/>
            <a:ext cx="6400800" cy="3063240"/>
          </a:xfrm>
          <a:prstGeom prst="rect">
            <a:avLst/>
          </a:prstGeom>
        </p:spPr>
      </p:pic>
      <p:sp>
        <p:nvSpPr>
          <p:cNvPr id="5" name="Shape 2"/>
          <p:cNvSpPr/>
          <p:nvPr/>
        </p:nvSpPr>
        <p:spPr>
          <a:xfrm>
            <a:off x="7223760" y="2011680"/>
            <a:ext cx="146304" cy="146304"/>
          </a:xfrm>
          <a:prstGeom prst="ellipse">
            <a:avLst/>
          </a:prstGeom>
          <a:solidFill>
            <a:srgbClr val="E4002B"/>
          </a:solidFill>
          <a:ln/>
        </p:spPr>
      </p:sp>
      <p:sp>
        <p:nvSpPr>
          <p:cNvPr id="6" name="Text 3"/>
          <p:cNvSpPr/>
          <p:nvPr/>
        </p:nvSpPr>
        <p:spPr>
          <a:xfrm>
            <a:off x="7516368" y="1911096"/>
            <a:ext cx="418795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A miss ≫ an over-flag  </a:t>
            </a:r>
            <a:pPr indent="0" marL="0">
              <a:buNone/>
            </a:pPr>
            <a:r>
              <a:rPr lang="en-US" sz="1350" dirty="0">
                <a:solidFill>
                  <a:srgbClr val="5B6770"/>
                </a:solidFill>
                <a:latin typeface="Calibri" pitchFamily="34" charset="0"/>
                <a:ea typeface="Calibri" pitchFamily="34" charset="-122"/>
                <a:cs typeface="Calibri" pitchFamily="34" charset="-120"/>
              </a:rPr>
              <a:t>Approving a truly high-risk customer at standard price inflates future claims.</a:t>
            </a:r>
            <a:endParaRPr lang="en-US" sz="1350" dirty="0"/>
          </a:p>
        </p:txBody>
      </p:sp>
      <p:sp>
        <p:nvSpPr>
          <p:cNvPr id="7" name="Shape 4"/>
          <p:cNvSpPr/>
          <p:nvPr/>
        </p:nvSpPr>
        <p:spPr>
          <a:xfrm>
            <a:off x="7223760" y="2926080"/>
            <a:ext cx="146304" cy="146304"/>
          </a:xfrm>
          <a:prstGeom prst="ellipse">
            <a:avLst/>
          </a:prstGeom>
          <a:solidFill>
            <a:srgbClr val="00A758"/>
          </a:solidFill>
          <a:ln/>
        </p:spPr>
      </p:sp>
      <p:sp>
        <p:nvSpPr>
          <p:cNvPr id="8" name="Text 5"/>
          <p:cNvSpPr/>
          <p:nvPr/>
        </p:nvSpPr>
        <p:spPr>
          <a:xfrm>
            <a:off x="7516368" y="2825496"/>
            <a:ext cx="418795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Lower the threshold  </a:t>
            </a:r>
            <a:pPr indent="0" marL="0">
              <a:buNone/>
            </a:pPr>
            <a:r>
              <a:rPr lang="en-US" sz="1350" dirty="0">
                <a:solidFill>
                  <a:srgbClr val="5B6770"/>
                </a:solidFill>
                <a:latin typeface="Calibri" pitchFamily="34" charset="0"/>
                <a:ea typeface="Calibri" pitchFamily="34" charset="-122"/>
                <a:cs typeface="Calibri" pitchFamily="34" charset="-120"/>
              </a:rPr>
              <a:t>Cast a wider net so fewer risky customers slip through to standard pricing.</a:t>
            </a:r>
            <a:endParaRPr lang="en-US" sz="1350" dirty="0"/>
          </a:p>
        </p:txBody>
      </p:sp>
      <p:sp>
        <p:nvSpPr>
          <p:cNvPr id="9" name="Shape 6"/>
          <p:cNvSpPr/>
          <p:nvPr/>
        </p:nvSpPr>
        <p:spPr>
          <a:xfrm>
            <a:off x="7223760" y="3840480"/>
            <a:ext cx="146304" cy="146304"/>
          </a:xfrm>
          <a:prstGeom prst="ellipse">
            <a:avLst/>
          </a:prstGeom>
          <a:solidFill>
            <a:srgbClr val="0090DA"/>
          </a:solidFill>
          <a:ln/>
        </p:spPr>
      </p:sp>
      <p:sp>
        <p:nvSpPr>
          <p:cNvPr id="10" name="Text 7"/>
          <p:cNvSpPr/>
          <p:nvPr/>
        </p:nvSpPr>
        <p:spPr>
          <a:xfrm>
            <a:off x="7516368" y="3739896"/>
            <a:ext cx="4187952" cy="640080"/>
          </a:xfrm>
          <a:prstGeom prst="rect">
            <a:avLst/>
          </a:prstGeom>
          <a:noFill/>
          <a:ln/>
        </p:spPr>
        <p:txBody>
          <a:bodyPr wrap="square" lIns="0" tIns="0" rIns="0" bIns="0" rtlCol="0" anchor="t"/>
          <a:lstStyle/>
          <a:p>
            <a:pPr indent="0" marL="0">
              <a:buNone/>
            </a:pPr>
            <a:r>
              <a:rPr lang="en-US" sz="1350" b="1" dirty="0">
                <a:solidFill>
                  <a:srgbClr val="1B2A38"/>
                </a:solidFill>
                <a:latin typeface="Calibri" pitchFamily="34" charset="0"/>
                <a:ea typeface="Calibri" pitchFamily="34" charset="-122"/>
                <a:cs typeface="Calibri" pitchFamily="34" charset="-120"/>
              </a:rPr>
              <a:t>Cost-driven optimum  </a:t>
            </a:r>
            <a:pPr indent="0" marL="0">
              <a:buNone/>
            </a:pPr>
            <a:r>
              <a:rPr lang="en-US" sz="1350" dirty="0">
                <a:solidFill>
                  <a:srgbClr val="5B6770"/>
                </a:solidFill>
                <a:latin typeface="Calibri" pitchFamily="34" charset="0"/>
                <a:ea typeface="Calibri" pitchFamily="34" charset="-122"/>
                <a:cs typeface="Calibri" pitchFamily="34" charset="-120"/>
              </a:rPr>
              <a:t>At a 10:1 miss-to-over-flag cost, the loss-minimising threshold falls to ≈ 0.08.</a:t>
            </a:r>
            <a:endParaRPr lang="en-US" sz="1350" dirty="0"/>
          </a:p>
        </p:txBody>
      </p:sp>
      <p:sp>
        <p:nvSpPr>
          <p:cNvPr id="11" name="Shape 8"/>
          <p:cNvSpPr/>
          <p:nvPr/>
        </p:nvSpPr>
        <p:spPr>
          <a:xfrm>
            <a:off x="7223760" y="4709160"/>
            <a:ext cx="4480560" cy="1051560"/>
          </a:xfrm>
          <a:prstGeom prst="roundRect">
            <a:avLst>
              <a:gd name="adj" fmla="val 6957"/>
            </a:avLst>
          </a:prstGeom>
          <a:solidFill>
            <a:srgbClr val="12283A"/>
          </a:solidFill>
          <a:ln/>
        </p:spPr>
      </p:sp>
      <p:sp>
        <p:nvSpPr>
          <p:cNvPr id="12" name="Text 9"/>
          <p:cNvSpPr/>
          <p:nvPr/>
        </p:nvSpPr>
        <p:spPr>
          <a:xfrm>
            <a:off x="7406640" y="4828032"/>
            <a:ext cx="4114800" cy="868680"/>
          </a:xfrm>
          <a:prstGeom prst="rect">
            <a:avLst/>
          </a:prstGeom>
          <a:noFill/>
          <a:ln/>
        </p:spPr>
        <p:txBody>
          <a:bodyPr wrap="square" lIns="0" tIns="0" rIns="0" bIns="0" rtlCol="0" anchor="ctr"/>
          <a:lstStyle/>
          <a:p>
            <a:pPr indent="0" marL="0">
              <a:lnSpc>
                <a:spcPts val="1700"/>
              </a:lnSpc>
              <a:buNone/>
            </a:pPr>
            <a:r>
              <a:rPr lang="en-US" sz="1250" b="1" dirty="0">
                <a:solidFill>
                  <a:srgbClr val="00A758"/>
                </a:solidFill>
                <a:latin typeface="Calibri" pitchFamily="34" charset="0"/>
                <a:ea typeface="Calibri" pitchFamily="34" charset="-122"/>
                <a:cs typeface="Calibri" pitchFamily="34" charset="-120"/>
              </a:rPr>
              <a:t>In the app,  </a:t>
            </a:r>
            <a:pPr indent="0" marL="0">
              <a:lnSpc>
                <a:spcPts val="1700"/>
              </a:lnSpc>
              <a:buNone/>
            </a:pPr>
            <a:r>
              <a:rPr lang="en-US" sz="1250" dirty="0">
                <a:solidFill>
                  <a:srgbClr val="FFFFFF"/>
                </a:solidFill>
                <a:latin typeface="Calibri" pitchFamily="34" charset="0"/>
                <a:ea typeface="Calibri" pitchFamily="34" charset="-122"/>
                <a:cs typeface="Calibri" pitchFamily="34" charset="-120"/>
              </a:rPr>
              <a:t>managers set the cost ratio with a slider and watch the optimal threshold move in real time.</a:t>
            </a:r>
            <a:endParaRPr lang="en-US" sz="1250" dirty="0"/>
          </a:p>
        </p:txBody>
      </p:sp>
      <p:sp>
        <p:nvSpPr>
          <p:cNvPr id="13" name="Text 10"/>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14" name="Text 1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FROM MODEL TO PRODUCT</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A self-serve app for non-technical underwriters</a:t>
            </a:r>
            <a:endParaRPr lang="en-US" sz="3200" dirty="0"/>
          </a:p>
        </p:txBody>
      </p:sp>
      <p:sp>
        <p:nvSpPr>
          <p:cNvPr id="4" name="Shape 2"/>
          <p:cNvSpPr/>
          <p:nvPr/>
        </p:nvSpPr>
        <p:spPr>
          <a:xfrm>
            <a:off x="548640" y="1874520"/>
            <a:ext cx="6949440" cy="786384"/>
          </a:xfrm>
          <a:prstGeom prst="roundRect">
            <a:avLst>
              <a:gd name="adj" fmla="val 6977"/>
            </a:avLst>
          </a:prstGeom>
          <a:solidFill>
            <a:srgbClr val="FFFFFF"/>
          </a:solidFill>
          <a:ln w="12700">
            <a:solidFill>
              <a:srgbClr val="E7EFF5"/>
            </a:solidFill>
            <a:prstDash val="solid"/>
          </a:ln>
        </p:spPr>
      </p:sp>
      <p:sp>
        <p:nvSpPr>
          <p:cNvPr id="5" name="Shape 3"/>
          <p:cNvSpPr/>
          <p:nvPr/>
        </p:nvSpPr>
        <p:spPr>
          <a:xfrm>
            <a:off x="713232" y="2039112"/>
            <a:ext cx="457200" cy="457200"/>
          </a:xfrm>
          <a:prstGeom prst="ellipse">
            <a:avLst/>
          </a:prstGeom>
          <a:solidFill>
            <a:srgbClr val="0090DA"/>
          </a:solidFill>
          <a:ln/>
        </p:spPr>
      </p:sp>
      <p:sp>
        <p:nvSpPr>
          <p:cNvPr id="6" name="Text 4"/>
          <p:cNvSpPr/>
          <p:nvPr/>
        </p:nvSpPr>
        <p:spPr>
          <a:xfrm>
            <a:off x="713232" y="2039112"/>
            <a:ext cx="457200" cy="457200"/>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7" name="Text 5"/>
          <p:cNvSpPr/>
          <p:nvPr/>
        </p:nvSpPr>
        <p:spPr>
          <a:xfrm>
            <a:off x="1325880" y="1874520"/>
            <a:ext cx="6080760" cy="786384"/>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Predict a customer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Move sliders → instant risk score, gauge, and plain-English reason.</a:t>
            </a:r>
            <a:endParaRPr lang="en-US" sz="1400" dirty="0"/>
          </a:p>
        </p:txBody>
      </p:sp>
      <p:sp>
        <p:nvSpPr>
          <p:cNvPr id="8" name="Shape 6"/>
          <p:cNvSpPr/>
          <p:nvPr/>
        </p:nvSpPr>
        <p:spPr>
          <a:xfrm>
            <a:off x="548640" y="2752344"/>
            <a:ext cx="6949440" cy="786384"/>
          </a:xfrm>
          <a:prstGeom prst="roundRect">
            <a:avLst>
              <a:gd name="adj" fmla="val 6977"/>
            </a:avLst>
          </a:prstGeom>
          <a:solidFill>
            <a:srgbClr val="FFFFFF"/>
          </a:solidFill>
          <a:ln w="12700">
            <a:solidFill>
              <a:srgbClr val="E7EFF5"/>
            </a:solidFill>
            <a:prstDash val="solid"/>
          </a:ln>
        </p:spPr>
      </p:sp>
      <p:sp>
        <p:nvSpPr>
          <p:cNvPr id="9" name="Shape 7"/>
          <p:cNvSpPr/>
          <p:nvPr/>
        </p:nvSpPr>
        <p:spPr>
          <a:xfrm>
            <a:off x="713232" y="2916936"/>
            <a:ext cx="457200" cy="457200"/>
          </a:xfrm>
          <a:prstGeom prst="ellipse">
            <a:avLst/>
          </a:prstGeom>
          <a:solidFill>
            <a:srgbClr val="00A758"/>
          </a:solidFill>
          <a:ln/>
        </p:spPr>
      </p:sp>
      <p:sp>
        <p:nvSpPr>
          <p:cNvPr id="10" name="Text 8"/>
          <p:cNvSpPr/>
          <p:nvPr/>
        </p:nvSpPr>
        <p:spPr>
          <a:xfrm>
            <a:off x="713232" y="2916936"/>
            <a:ext cx="457200" cy="457200"/>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1" name="Text 9"/>
          <p:cNvSpPr/>
          <p:nvPr/>
        </p:nvSpPr>
        <p:spPr>
          <a:xfrm>
            <a:off x="1325880" y="2752344"/>
            <a:ext cx="6080760" cy="786384"/>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Portfolio explorer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Filter 60k customers by age &amp; health band; see high-risk rates live.</a:t>
            </a:r>
            <a:endParaRPr lang="en-US" sz="1400" dirty="0"/>
          </a:p>
        </p:txBody>
      </p:sp>
      <p:sp>
        <p:nvSpPr>
          <p:cNvPr id="12" name="Shape 10"/>
          <p:cNvSpPr/>
          <p:nvPr/>
        </p:nvSpPr>
        <p:spPr>
          <a:xfrm>
            <a:off x="548640" y="3630168"/>
            <a:ext cx="6949440" cy="786384"/>
          </a:xfrm>
          <a:prstGeom prst="roundRect">
            <a:avLst>
              <a:gd name="adj" fmla="val 6977"/>
            </a:avLst>
          </a:prstGeom>
          <a:solidFill>
            <a:srgbClr val="FFFFFF"/>
          </a:solidFill>
          <a:ln w="12700">
            <a:solidFill>
              <a:srgbClr val="E7EFF5"/>
            </a:solidFill>
            <a:prstDash val="solid"/>
          </a:ln>
        </p:spPr>
      </p:sp>
      <p:sp>
        <p:nvSpPr>
          <p:cNvPr id="13" name="Shape 11"/>
          <p:cNvSpPr/>
          <p:nvPr/>
        </p:nvSpPr>
        <p:spPr>
          <a:xfrm>
            <a:off x="713232" y="3794760"/>
            <a:ext cx="457200" cy="457200"/>
          </a:xfrm>
          <a:prstGeom prst="ellipse">
            <a:avLst/>
          </a:prstGeom>
          <a:solidFill>
            <a:srgbClr val="E4002B"/>
          </a:solidFill>
          <a:ln/>
        </p:spPr>
      </p:sp>
      <p:sp>
        <p:nvSpPr>
          <p:cNvPr id="14" name="Text 12"/>
          <p:cNvSpPr/>
          <p:nvPr/>
        </p:nvSpPr>
        <p:spPr>
          <a:xfrm>
            <a:off x="713232" y="3794760"/>
            <a:ext cx="457200" cy="457200"/>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5" name="Text 13"/>
          <p:cNvSpPr/>
          <p:nvPr/>
        </p:nvSpPr>
        <p:spPr>
          <a:xfrm>
            <a:off x="1325880" y="3630168"/>
            <a:ext cx="6080760" cy="786384"/>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Threshold economics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Set miss/over-flag costs; find the loss-minimising threshold.</a:t>
            </a:r>
            <a:endParaRPr lang="en-US" sz="1400" dirty="0"/>
          </a:p>
        </p:txBody>
      </p:sp>
      <p:sp>
        <p:nvSpPr>
          <p:cNvPr id="16" name="Shape 14"/>
          <p:cNvSpPr/>
          <p:nvPr/>
        </p:nvSpPr>
        <p:spPr>
          <a:xfrm>
            <a:off x="548640" y="4507992"/>
            <a:ext cx="6949440" cy="786384"/>
          </a:xfrm>
          <a:prstGeom prst="roundRect">
            <a:avLst>
              <a:gd name="adj" fmla="val 6977"/>
            </a:avLst>
          </a:prstGeom>
          <a:solidFill>
            <a:srgbClr val="FFFFFF"/>
          </a:solidFill>
          <a:ln w="12700">
            <a:solidFill>
              <a:srgbClr val="E7EFF5"/>
            </a:solidFill>
            <a:prstDash val="solid"/>
          </a:ln>
        </p:spPr>
      </p:sp>
      <p:sp>
        <p:nvSpPr>
          <p:cNvPr id="17" name="Shape 15"/>
          <p:cNvSpPr/>
          <p:nvPr/>
        </p:nvSpPr>
        <p:spPr>
          <a:xfrm>
            <a:off x="713232" y="4672584"/>
            <a:ext cx="457200" cy="457200"/>
          </a:xfrm>
          <a:prstGeom prst="ellipse">
            <a:avLst/>
          </a:prstGeom>
          <a:solidFill>
            <a:srgbClr val="12283A"/>
          </a:solidFill>
          <a:ln/>
        </p:spPr>
      </p:sp>
      <p:sp>
        <p:nvSpPr>
          <p:cNvPr id="18" name="Text 16"/>
          <p:cNvSpPr/>
          <p:nvPr/>
        </p:nvSpPr>
        <p:spPr>
          <a:xfrm>
            <a:off x="713232" y="4672584"/>
            <a:ext cx="457200" cy="457200"/>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9" name="Text 17"/>
          <p:cNvSpPr/>
          <p:nvPr/>
        </p:nvSpPr>
        <p:spPr>
          <a:xfrm>
            <a:off x="1325880" y="4507992"/>
            <a:ext cx="6080760" cy="786384"/>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The data story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The EDA charts with one-line takeaways for any audience.</a:t>
            </a:r>
            <a:endParaRPr lang="en-US" sz="1400" dirty="0"/>
          </a:p>
        </p:txBody>
      </p:sp>
      <p:sp>
        <p:nvSpPr>
          <p:cNvPr id="20" name="Shape 18"/>
          <p:cNvSpPr/>
          <p:nvPr/>
        </p:nvSpPr>
        <p:spPr>
          <a:xfrm>
            <a:off x="548640" y="5385816"/>
            <a:ext cx="6949440" cy="786384"/>
          </a:xfrm>
          <a:prstGeom prst="roundRect">
            <a:avLst>
              <a:gd name="adj" fmla="val 6977"/>
            </a:avLst>
          </a:prstGeom>
          <a:solidFill>
            <a:srgbClr val="FFFFFF"/>
          </a:solidFill>
          <a:ln w="12700">
            <a:solidFill>
              <a:srgbClr val="E7EFF5"/>
            </a:solidFill>
            <a:prstDash val="solid"/>
          </a:ln>
        </p:spPr>
      </p:sp>
      <p:sp>
        <p:nvSpPr>
          <p:cNvPr id="21" name="Shape 19"/>
          <p:cNvSpPr/>
          <p:nvPr/>
        </p:nvSpPr>
        <p:spPr>
          <a:xfrm>
            <a:off x="713232" y="5550408"/>
            <a:ext cx="457200" cy="457200"/>
          </a:xfrm>
          <a:prstGeom prst="ellipse">
            <a:avLst/>
          </a:prstGeom>
          <a:solidFill>
            <a:srgbClr val="0090DA"/>
          </a:solidFill>
          <a:ln/>
        </p:spPr>
      </p:sp>
      <p:sp>
        <p:nvSpPr>
          <p:cNvPr id="22" name="Text 20"/>
          <p:cNvSpPr/>
          <p:nvPr/>
        </p:nvSpPr>
        <p:spPr>
          <a:xfrm>
            <a:off x="713232" y="5550408"/>
            <a:ext cx="457200" cy="457200"/>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3" name="Text 21"/>
          <p:cNvSpPr/>
          <p:nvPr/>
        </p:nvSpPr>
        <p:spPr>
          <a:xfrm>
            <a:off x="1325880" y="5385816"/>
            <a:ext cx="6080760" cy="786384"/>
          </a:xfrm>
          <a:prstGeom prst="rect">
            <a:avLst/>
          </a:prstGeom>
          <a:noFill/>
          <a:ln/>
        </p:spPr>
        <p:txBody>
          <a:bodyPr wrap="square" lIns="0" tIns="0" rIns="0" bIns="0" rtlCol="0" anchor="ctr"/>
          <a:lstStyle/>
          <a:p>
            <a:pPr indent="0" marL="0">
              <a:lnSpc>
                <a:spcPts val="1500"/>
              </a:lnSpc>
              <a:buNone/>
            </a:pPr>
            <a:r>
              <a:rPr lang="en-US" sz="1400" b="1" dirty="0">
                <a:solidFill>
                  <a:srgbClr val="1B2A38"/>
                </a:solidFill>
                <a:latin typeface="Calibri" pitchFamily="34" charset="0"/>
                <a:ea typeface="Calibri" pitchFamily="34" charset="-122"/>
                <a:cs typeface="Calibri" pitchFamily="34" charset="-120"/>
              </a:rPr>
              <a:t>AI assistant   </a:t>
            </a:r>
            <a:pPr indent="0" marL="0">
              <a:lnSpc>
                <a:spcPts val="1500"/>
              </a:lnSpc>
              <a:buNone/>
            </a:pPr>
            <a:r>
              <a:rPr lang="en-US" sz="1150" dirty="0">
                <a:solidFill>
                  <a:srgbClr val="5B6770"/>
                </a:solidFill>
                <a:latin typeface="Calibri" pitchFamily="34" charset="0"/>
                <a:ea typeface="Calibri" pitchFamily="34" charset="-122"/>
                <a:cs typeface="Calibri" pitchFamily="34" charset="-120"/>
              </a:rPr>
              <a:t>Ask questions in natural language — answers grounded in real numbers.</a:t>
            </a:r>
            <a:endParaRPr lang="en-US" sz="1400" dirty="0"/>
          </a:p>
        </p:txBody>
      </p:sp>
      <p:sp>
        <p:nvSpPr>
          <p:cNvPr id="24" name="Shape 22"/>
          <p:cNvSpPr/>
          <p:nvPr/>
        </p:nvSpPr>
        <p:spPr>
          <a:xfrm>
            <a:off x="7772400" y="1874520"/>
            <a:ext cx="3886200" cy="4160520"/>
          </a:xfrm>
          <a:prstGeom prst="roundRect">
            <a:avLst>
              <a:gd name="adj" fmla="val 2353"/>
            </a:avLst>
          </a:prstGeom>
          <a:solidFill>
            <a:srgbClr val="12283A"/>
          </a:solidFill>
          <a:ln/>
        </p:spPr>
      </p:sp>
      <p:sp>
        <p:nvSpPr>
          <p:cNvPr id="25" name="Text 23"/>
          <p:cNvSpPr/>
          <p:nvPr/>
        </p:nvSpPr>
        <p:spPr>
          <a:xfrm>
            <a:off x="8046720" y="2103120"/>
            <a:ext cx="3383280" cy="274320"/>
          </a:xfrm>
          <a:prstGeom prst="rect">
            <a:avLst/>
          </a:prstGeom>
          <a:noFill/>
          <a:ln/>
        </p:spPr>
        <p:txBody>
          <a:bodyPr wrap="square" lIns="0" tIns="0" rIns="0" bIns="0" rtlCol="0" anchor="ctr"/>
          <a:lstStyle/>
          <a:p>
            <a:pPr indent="0" marL="0">
              <a:buNone/>
            </a:pPr>
            <a:r>
              <a:rPr lang="en-US" sz="1100" b="1" spc="150" kern="0" dirty="0">
                <a:solidFill>
                  <a:srgbClr val="00A758"/>
                </a:solidFill>
                <a:latin typeface="Calibri" pitchFamily="34" charset="0"/>
                <a:ea typeface="Calibri" pitchFamily="34" charset="-122"/>
                <a:cs typeface="Calibri" pitchFamily="34" charset="-120"/>
              </a:rPr>
              <a:t>WHY IT MATTERS</a:t>
            </a:r>
            <a:endParaRPr lang="en-US" sz="1100" dirty="0"/>
          </a:p>
        </p:txBody>
      </p:sp>
      <p:sp>
        <p:nvSpPr>
          <p:cNvPr id="26" name="Text 24"/>
          <p:cNvSpPr/>
          <p:nvPr/>
        </p:nvSpPr>
        <p:spPr>
          <a:xfrm>
            <a:off x="8046720" y="2423160"/>
            <a:ext cx="3383280" cy="731520"/>
          </a:xfrm>
          <a:prstGeom prst="rect">
            <a:avLst/>
          </a:prstGeom>
          <a:noFill/>
          <a:ln/>
        </p:spPr>
        <p:txBody>
          <a:bodyPr wrap="square" lIns="0" tIns="0" rIns="0" bIns="0" rtlCol="0" anchor="ctr"/>
          <a:lstStyle/>
          <a:p>
            <a:pPr indent="0" marL="0">
              <a:lnSpc>
                <a:spcPts val="2400"/>
              </a:lnSpc>
              <a:buNone/>
            </a:pPr>
            <a:r>
              <a:rPr lang="en-US" sz="2200" b="1" dirty="0">
                <a:solidFill>
                  <a:srgbClr val="FFFFFF"/>
                </a:solidFill>
                <a:latin typeface="Cambria" pitchFamily="34" charset="0"/>
                <a:ea typeface="Cambria" pitchFamily="34" charset="-122"/>
                <a:cs typeface="Cambria" pitchFamily="34" charset="-120"/>
              </a:rPr>
              <a:t>The model leaves the notebook</a:t>
            </a:r>
            <a:endParaRPr lang="en-US" sz="2200" dirty="0"/>
          </a:p>
        </p:txBody>
      </p:sp>
      <p:sp>
        <p:nvSpPr>
          <p:cNvPr id="27" name="Text 25"/>
          <p:cNvSpPr/>
          <p:nvPr/>
        </p:nvSpPr>
        <p:spPr>
          <a:xfrm>
            <a:off x="8046720" y="3383280"/>
            <a:ext cx="3383280" cy="2468880"/>
          </a:xfrm>
          <a:prstGeom prst="rect">
            <a:avLst/>
          </a:prstGeom>
          <a:noFill/>
          <a:ln/>
        </p:spPr>
        <p:txBody>
          <a:bodyPr wrap="square" lIns="0" tIns="0" rIns="0" bIns="0" rtlCol="0" anchor="ctr"/>
          <a:lstStyle/>
          <a:p>
            <a:pPr indent="0" marL="0">
              <a:lnSpc>
                <a:spcPts val="1800"/>
              </a:lnSpc>
              <a:buNone/>
            </a:pPr>
            <a:r>
              <a:rPr lang="en-US" sz="1350" dirty="0">
                <a:solidFill>
                  <a:srgbClr val="D6E4F0"/>
                </a:solidFill>
                <a:latin typeface="Calibri" pitchFamily="34" charset="0"/>
                <a:ea typeface="Calibri" pitchFamily="34" charset="-122"/>
                <a:cs typeface="Calibri" pitchFamily="34" charset="-120"/>
              </a:rPr>
              <a:t>✓  Deployable free on Streamlit Cloud
</a:t>
            </a:r>
            <a:pPr indent="0" marL="0">
              <a:lnSpc>
                <a:spcPts val="1800"/>
              </a:lnSpc>
              <a:buNone/>
            </a:pPr>
            <a:r>
              <a:rPr lang="en-US" sz="1350" dirty="0">
                <a:solidFill>
                  <a:srgbClr val="D6E4F0"/>
                </a:solidFill>
                <a:latin typeface="Calibri" pitchFamily="34" charset="0"/>
                <a:ea typeface="Calibri" pitchFamily="34" charset="-122"/>
                <a:cs typeface="Calibri" pitchFamily="34" charset="-120"/>
              </a:rPr>
              <a:t>✓  Dynamic sliders — no code to explore
</a:t>
            </a:r>
            <a:pPr indent="0" marL="0">
              <a:lnSpc>
                <a:spcPts val="1800"/>
              </a:lnSpc>
              <a:buNone/>
            </a:pPr>
            <a:r>
              <a:rPr lang="en-US" sz="1350" dirty="0">
                <a:solidFill>
                  <a:srgbClr val="D6E4F0"/>
                </a:solidFill>
                <a:latin typeface="Calibri" pitchFamily="34" charset="0"/>
                <a:ea typeface="Calibri" pitchFamily="34" charset="-122"/>
                <a:cs typeface="Calibri" pitchFamily="34" charset="-120"/>
              </a:rPr>
              <a:t>✓  Every score comes with a reason
</a:t>
            </a:r>
            <a:pPr indent="0" marL="0">
              <a:lnSpc>
                <a:spcPts val="1800"/>
              </a:lnSpc>
              <a:buNone/>
            </a:pPr>
            <a:r>
              <a:rPr lang="en-US" sz="1350" dirty="0">
                <a:solidFill>
                  <a:srgbClr val="D6E4F0"/>
                </a:solidFill>
                <a:latin typeface="Calibri" pitchFamily="34" charset="0"/>
                <a:ea typeface="Calibri" pitchFamily="34" charset="-122"/>
                <a:cs typeface="Calibri" pitchFamily="34" charset="-120"/>
              </a:rPr>
              <a:t>✓  Owned by the whole team, not just DS</a:t>
            </a:r>
            <a:endParaRPr lang="en-US" sz="1350" dirty="0"/>
          </a:p>
        </p:txBody>
      </p:sp>
      <p:sp>
        <p:nvSpPr>
          <p:cNvPr id="28" name="Text 2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29" name="Text 27"/>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A758"/>
                </a:solidFill>
                <a:latin typeface="Calibri" pitchFamily="34" charset="0"/>
                <a:ea typeface="Calibri" pitchFamily="34" charset="-122"/>
                <a:cs typeface="Calibri" pitchFamily="34" charset="-120"/>
              </a:rPr>
              <a:t>THE OPTIMIZATION: GENAI</a:t>
            </a:r>
            <a:endParaRPr lang="en-US" sz="1200" dirty="0"/>
          </a:p>
        </p:txBody>
      </p:sp>
      <p:sp>
        <p:nvSpPr>
          <p:cNvPr id="3" name="Text 1"/>
          <p:cNvSpPr/>
          <p:nvPr/>
        </p:nvSpPr>
        <p:spPr>
          <a:xfrm>
            <a:off x="548640" y="777240"/>
            <a:ext cx="1133856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ML score + LLM = trusted, conversational underwriting</a:t>
            </a:r>
            <a:endParaRPr lang="en-US" sz="3200" dirty="0"/>
          </a:p>
        </p:txBody>
      </p:sp>
      <p:sp>
        <p:nvSpPr>
          <p:cNvPr id="4" name="Shape 2"/>
          <p:cNvSpPr/>
          <p:nvPr/>
        </p:nvSpPr>
        <p:spPr>
          <a:xfrm>
            <a:off x="548640" y="1920240"/>
            <a:ext cx="5394960" cy="2743200"/>
          </a:xfrm>
          <a:prstGeom prst="roundRect">
            <a:avLst>
              <a:gd name="adj" fmla="val 3333"/>
            </a:avLst>
          </a:prstGeom>
          <a:solidFill>
            <a:srgbClr val="F4F8FB"/>
          </a:solidFill>
          <a:ln w="12700">
            <a:solidFill>
              <a:srgbClr val="E7EFF5"/>
            </a:solidFill>
            <a:prstDash val="solid"/>
          </a:ln>
        </p:spPr>
      </p:sp>
      <p:sp>
        <p:nvSpPr>
          <p:cNvPr id="5" name="Text 3"/>
          <p:cNvSpPr/>
          <p:nvPr/>
        </p:nvSpPr>
        <p:spPr>
          <a:xfrm>
            <a:off x="822960" y="2148840"/>
            <a:ext cx="4846320" cy="457200"/>
          </a:xfrm>
          <a:prstGeom prst="rect">
            <a:avLst/>
          </a:prstGeom>
          <a:noFill/>
          <a:ln/>
        </p:spPr>
        <p:txBody>
          <a:bodyPr wrap="square" lIns="0" tIns="0" rIns="0" bIns="0" rtlCol="0" anchor="ctr"/>
          <a:lstStyle/>
          <a:p>
            <a:pPr indent="0" marL="0">
              <a:buNone/>
            </a:pPr>
            <a:r>
              <a:rPr lang="en-US" sz="2000" b="1" dirty="0">
                <a:solidFill>
                  <a:srgbClr val="0090DA"/>
                </a:solidFill>
                <a:latin typeface="Cambria" pitchFamily="34" charset="0"/>
                <a:ea typeface="Cambria" pitchFamily="34" charset="-122"/>
                <a:cs typeface="Cambria" pitchFamily="34" charset="-120"/>
              </a:rPr>
              <a:t>①  Decision narrator</a:t>
            </a:r>
            <a:endParaRPr lang="en-US" sz="2000" dirty="0"/>
          </a:p>
        </p:txBody>
      </p:sp>
      <p:sp>
        <p:nvSpPr>
          <p:cNvPr id="6" name="Text 4"/>
          <p:cNvSpPr/>
          <p:nvPr/>
        </p:nvSpPr>
        <p:spPr>
          <a:xfrm>
            <a:off x="822960" y="2697480"/>
            <a:ext cx="4846320" cy="1280160"/>
          </a:xfrm>
          <a:prstGeom prst="rect">
            <a:avLst/>
          </a:prstGeom>
          <a:noFill/>
          <a:ln/>
        </p:spPr>
        <p:txBody>
          <a:bodyPr wrap="square" lIns="0" tIns="0" rIns="0" bIns="0" rtlCol="0" anchor="ctr"/>
          <a:lstStyle/>
          <a:p>
            <a:pPr indent="0" marL="0">
              <a:lnSpc>
                <a:spcPts val="2000"/>
              </a:lnSpc>
              <a:buNone/>
            </a:pPr>
            <a:r>
              <a:rPr lang="en-US" sz="1350" dirty="0">
                <a:solidFill>
                  <a:srgbClr val="1B2A38"/>
                </a:solidFill>
                <a:latin typeface="Calibri" pitchFamily="34" charset="0"/>
                <a:ea typeface="Calibri" pitchFamily="34" charset="-122"/>
                <a:cs typeface="Calibri" pitchFamily="34" charset="-120"/>
              </a:rPr>
              <a:t>Turns the risk score + drivers into a plain-English explanation an underwriter can trust: "High-risk (72%), driven mainly by age 78 and a low health score of 41…"</a:t>
            </a:r>
            <a:endParaRPr lang="en-US" sz="1350" dirty="0"/>
          </a:p>
        </p:txBody>
      </p:sp>
      <p:sp>
        <p:nvSpPr>
          <p:cNvPr id="7" name="Text 5"/>
          <p:cNvSpPr/>
          <p:nvPr/>
        </p:nvSpPr>
        <p:spPr>
          <a:xfrm>
            <a:off x="822960" y="4160520"/>
            <a:ext cx="4846320" cy="365760"/>
          </a:xfrm>
          <a:prstGeom prst="rect">
            <a:avLst/>
          </a:prstGeom>
          <a:noFill/>
          <a:ln/>
        </p:spPr>
        <p:txBody>
          <a:bodyPr wrap="square" lIns="0" tIns="0" rIns="0" bIns="0" rtlCol="0" anchor="ctr"/>
          <a:lstStyle/>
          <a:p>
            <a:pPr indent="0" marL="0">
              <a:buNone/>
            </a:pPr>
            <a:r>
              <a:rPr lang="en-US" sz="1200" i="1" dirty="0">
                <a:solidFill>
                  <a:srgbClr val="00A758"/>
                </a:solidFill>
                <a:latin typeface="Calibri" pitchFamily="34" charset="0"/>
                <a:ea typeface="Calibri" pitchFamily="34" charset="-122"/>
                <a:cs typeface="Calibri" pitchFamily="34" charset="-120"/>
              </a:rPr>
              <a:t>Directly reinforces the explainability theme.</a:t>
            </a:r>
            <a:endParaRPr lang="en-US" sz="1200" dirty="0"/>
          </a:p>
        </p:txBody>
      </p:sp>
      <p:sp>
        <p:nvSpPr>
          <p:cNvPr id="8" name="Shape 6"/>
          <p:cNvSpPr/>
          <p:nvPr/>
        </p:nvSpPr>
        <p:spPr>
          <a:xfrm>
            <a:off x="6263640" y="1920240"/>
            <a:ext cx="5394960" cy="2743200"/>
          </a:xfrm>
          <a:prstGeom prst="roundRect">
            <a:avLst>
              <a:gd name="adj" fmla="val 3333"/>
            </a:avLst>
          </a:prstGeom>
          <a:solidFill>
            <a:srgbClr val="F4F8FB"/>
          </a:solidFill>
          <a:ln w="12700">
            <a:solidFill>
              <a:srgbClr val="E7EFF5"/>
            </a:solidFill>
            <a:prstDash val="solid"/>
          </a:ln>
        </p:spPr>
      </p:sp>
      <p:sp>
        <p:nvSpPr>
          <p:cNvPr id="9" name="Text 7"/>
          <p:cNvSpPr/>
          <p:nvPr/>
        </p:nvSpPr>
        <p:spPr>
          <a:xfrm>
            <a:off x="6537960" y="2148840"/>
            <a:ext cx="4846320" cy="457200"/>
          </a:xfrm>
          <a:prstGeom prst="rect">
            <a:avLst/>
          </a:prstGeom>
          <a:noFill/>
          <a:ln/>
        </p:spPr>
        <p:txBody>
          <a:bodyPr wrap="square" lIns="0" tIns="0" rIns="0" bIns="0" rtlCol="0" anchor="ctr"/>
          <a:lstStyle/>
          <a:p>
            <a:pPr indent="0" marL="0">
              <a:buNone/>
            </a:pPr>
            <a:r>
              <a:rPr lang="en-US" sz="2000" b="1" dirty="0">
                <a:solidFill>
                  <a:srgbClr val="00A758"/>
                </a:solidFill>
                <a:latin typeface="Cambria" pitchFamily="34" charset="0"/>
                <a:ea typeface="Cambria" pitchFamily="34" charset="-122"/>
                <a:cs typeface="Cambria" pitchFamily="34" charset="-120"/>
              </a:rPr>
              <a:t>②  Underwriting chatbot</a:t>
            </a:r>
            <a:endParaRPr lang="en-US" sz="2000" dirty="0"/>
          </a:p>
        </p:txBody>
      </p:sp>
      <p:sp>
        <p:nvSpPr>
          <p:cNvPr id="10" name="Text 8"/>
          <p:cNvSpPr/>
          <p:nvPr/>
        </p:nvSpPr>
        <p:spPr>
          <a:xfrm>
            <a:off x="6537960" y="2697480"/>
            <a:ext cx="4846320" cy="1280160"/>
          </a:xfrm>
          <a:prstGeom prst="rect">
            <a:avLst/>
          </a:prstGeom>
          <a:noFill/>
          <a:ln/>
        </p:spPr>
        <p:txBody>
          <a:bodyPr wrap="square" lIns="0" tIns="0" rIns="0" bIns="0" rtlCol="0" anchor="ctr"/>
          <a:lstStyle/>
          <a:p>
            <a:pPr indent="0" marL="0">
              <a:lnSpc>
                <a:spcPts val="2000"/>
              </a:lnSpc>
              <a:buNone/>
            </a:pPr>
            <a:r>
              <a:rPr lang="en-US" sz="1350" dirty="0">
                <a:solidFill>
                  <a:srgbClr val="1B2A38"/>
                </a:solidFill>
                <a:latin typeface="Calibri" pitchFamily="34" charset="0"/>
                <a:ea typeface="Calibri" pitchFamily="34" charset="-122"/>
                <a:cs typeface="Calibri" pitchFamily="34" charset="-120"/>
              </a:rPr>
              <a:t>Managers ask in natural language — "high-risk rate for customers over 60?" — and get an instant answer. Numbers are computed in Python first, then phrased by the LLM.</a:t>
            </a:r>
            <a:endParaRPr lang="en-US" sz="1350" dirty="0"/>
          </a:p>
        </p:txBody>
      </p:sp>
      <p:sp>
        <p:nvSpPr>
          <p:cNvPr id="11" name="Text 9"/>
          <p:cNvSpPr/>
          <p:nvPr/>
        </p:nvSpPr>
        <p:spPr>
          <a:xfrm>
            <a:off x="6537960" y="4160520"/>
            <a:ext cx="4846320" cy="365760"/>
          </a:xfrm>
          <a:prstGeom prst="rect">
            <a:avLst/>
          </a:prstGeom>
          <a:noFill/>
          <a:ln/>
        </p:spPr>
        <p:txBody>
          <a:bodyPr wrap="square" lIns="0" tIns="0" rIns="0" bIns="0" rtlCol="0" anchor="ctr"/>
          <a:lstStyle/>
          <a:p>
            <a:pPr indent="0" marL="0">
              <a:buNone/>
            </a:pPr>
            <a:r>
              <a:rPr lang="en-US" sz="1200" i="1" dirty="0">
                <a:solidFill>
                  <a:srgbClr val="00A758"/>
                </a:solidFill>
                <a:latin typeface="Calibri" pitchFamily="34" charset="0"/>
                <a:ea typeface="Calibri" pitchFamily="34" charset="-122"/>
                <a:cs typeface="Calibri" pitchFamily="34" charset="-120"/>
              </a:rPr>
              <a:t>No hallucinated statistics — a responsible-AI pattern.</a:t>
            </a:r>
            <a:endParaRPr lang="en-US" sz="1200" dirty="0"/>
          </a:p>
        </p:txBody>
      </p:sp>
      <p:sp>
        <p:nvSpPr>
          <p:cNvPr id="12" name="Shape 10"/>
          <p:cNvSpPr/>
          <p:nvPr/>
        </p:nvSpPr>
        <p:spPr>
          <a:xfrm>
            <a:off x="548640" y="4892040"/>
            <a:ext cx="11109960" cy="1051560"/>
          </a:xfrm>
          <a:prstGeom prst="roundRect">
            <a:avLst>
              <a:gd name="adj" fmla="val 6957"/>
            </a:avLst>
          </a:prstGeom>
          <a:solidFill>
            <a:srgbClr val="12283A"/>
          </a:solidFill>
          <a:ln/>
        </p:spPr>
      </p:sp>
      <p:sp>
        <p:nvSpPr>
          <p:cNvPr id="13" name="Text 11"/>
          <p:cNvSpPr/>
          <p:nvPr/>
        </p:nvSpPr>
        <p:spPr>
          <a:xfrm>
            <a:off x="822960" y="5029200"/>
            <a:ext cx="10607040" cy="777240"/>
          </a:xfrm>
          <a:prstGeom prst="rect">
            <a:avLst/>
          </a:prstGeom>
          <a:noFill/>
          <a:ln/>
        </p:spPr>
        <p:txBody>
          <a:bodyPr wrap="square" lIns="0" tIns="0" rIns="0" bIns="0" rtlCol="0" anchor="ctr"/>
          <a:lstStyle/>
          <a:p>
            <a:pPr indent="0" marL="0">
              <a:lnSpc>
                <a:spcPts val="1800"/>
              </a:lnSpc>
              <a:buNone/>
            </a:pPr>
            <a:r>
              <a:rPr lang="en-US" sz="1300" b="1" dirty="0">
                <a:solidFill>
                  <a:srgbClr val="00A758"/>
                </a:solidFill>
                <a:latin typeface="Calibri" pitchFamily="34" charset="0"/>
                <a:ea typeface="Calibri" pitchFamily="34" charset="-122"/>
                <a:cs typeface="Calibri" pitchFamily="34" charset="-120"/>
              </a:rPr>
              <a:t>Grounded by design:  </a:t>
            </a:r>
            <a:pPr indent="0" marL="0">
              <a:lnSpc>
                <a:spcPts val="1800"/>
              </a:lnSpc>
              <a:buNone/>
            </a:pPr>
            <a:r>
              <a:rPr lang="en-US" sz="1300" dirty="0">
                <a:solidFill>
                  <a:srgbClr val="FFFFFF"/>
                </a:solidFill>
                <a:latin typeface="Calibri" pitchFamily="34" charset="0"/>
                <a:ea typeface="Calibri" pitchFamily="34" charset="-122"/>
                <a:cs typeface="Calibri" pitchFamily="34" charset="-120"/>
              </a:rPr>
              <a:t>the LLM only verbalizes numbers the model and data produce. Free to run (Groq), and it degrades gracefully to exact template text if the AI is offline — so a live demo never breaks.</a:t>
            </a:r>
            <a:endParaRPr lang="en-US" sz="1300" dirty="0"/>
          </a:p>
        </p:txBody>
      </p:sp>
      <p:sp>
        <p:nvSpPr>
          <p:cNvPr id="14" name="Text 1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15" name="Text 13"/>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RECOMMENDATIONS</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What we recommend next</a:t>
            </a:r>
            <a:endParaRPr lang="en-US" sz="3200" dirty="0"/>
          </a:p>
        </p:txBody>
      </p:sp>
      <p:sp>
        <p:nvSpPr>
          <p:cNvPr id="4" name="Shape 2"/>
          <p:cNvSpPr/>
          <p:nvPr/>
        </p:nvSpPr>
        <p:spPr>
          <a:xfrm>
            <a:off x="548640" y="1920240"/>
            <a:ext cx="11109960" cy="914400"/>
          </a:xfrm>
          <a:prstGeom prst="roundRect">
            <a:avLst>
              <a:gd name="adj" fmla="val 7000"/>
            </a:avLst>
          </a:prstGeom>
          <a:solidFill>
            <a:srgbClr val="FFFFFF"/>
          </a:solidFill>
          <a:ln w="12700">
            <a:solidFill>
              <a:srgbClr val="E7EFF5"/>
            </a:solidFill>
            <a:prstDash val="solid"/>
          </a:ln>
          <a:effectLst>
            <a:outerShdw sx="100000" sy="100000" kx="0" ky="0" algn="bl" rotWithShape="0" blurRad="50800" dist="25400" dir="5400000">
              <a:srgbClr val="AAB7C4">
                <a:alpha val="25000"/>
              </a:srgbClr>
            </a:outerShdw>
          </a:effectLst>
        </p:spPr>
      </p:sp>
      <p:sp>
        <p:nvSpPr>
          <p:cNvPr id="5" name="Shape 3"/>
          <p:cNvSpPr/>
          <p:nvPr/>
        </p:nvSpPr>
        <p:spPr>
          <a:xfrm>
            <a:off x="548640" y="1920240"/>
            <a:ext cx="1600200" cy="914400"/>
          </a:xfrm>
          <a:prstGeom prst="roundRect">
            <a:avLst>
              <a:gd name="adj" fmla="val 7000"/>
            </a:avLst>
          </a:prstGeom>
          <a:solidFill>
            <a:srgbClr val="0090DA"/>
          </a:solidFill>
          <a:ln/>
        </p:spPr>
      </p:sp>
      <p:sp>
        <p:nvSpPr>
          <p:cNvPr id="6" name="Text 4"/>
          <p:cNvSpPr/>
          <p:nvPr/>
        </p:nvSpPr>
        <p:spPr>
          <a:xfrm>
            <a:off x="548640" y="1920240"/>
            <a:ext cx="160020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Adopt</a:t>
            </a:r>
            <a:endParaRPr lang="en-US" sz="2000" dirty="0"/>
          </a:p>
        </p:txBody>
      </p:sp>
      <p:sp>
        <p:nvSpPr>
          <p:cNvPr id="7" name="Text 5"/>
          <p:cNvSpPr/>
          <p:nvPr/>
        </p:nvSpPr>
        <p:spPr>
          <a:xfrm>
            <a:off x="2377440" y="1920240"/>
            <a:ext cx="9052560" cy="914400"/>
          </a:xfrm>
          <a:prstGeom prst="rect">
            <a:avLst/>
          </a:prstGeom>
          <a:noFill/>
          <a:ln/>
        </p:spPr>
        <p:txBody>
          <a:bodyPr wrap="square" lIns="0" tIns="0" rIns="0" bIns="0" rtlCol="0" anchor="ctr"/>
          <a:lstStyle/>
          <a:p>
            <a:pPr indent="0" marL="0">
              <a:lnSpc>
                <a:spcPts val="1900"/>
              </a:lnSpc>
              <a:buNone/>
            </a:pPr>
            <a:r>
              <a:rPr lang="en-US" sz="1400" dirty="0">
                <a:solidFill>
                  <a:srgbClr val="1B2A38"/>
                </a:solidFill>
                <a:latin typeface="Calibri" pitchFamily="34" charset="0"/>
                <a:ea typeface="Calibri" pitchFamily="34" charset="-122"/>
                <a:cs typeface="Calibri" pitchFamily="34" charset="-120"/>
              </a:rPr>
              <a:t>Ship the explainable Logistic Regression as the production scorer; keep gradient boosting as a challenger.</a:t>
            </a:r>
            <a:endParaRPr lang="en-US" sz="1400" dirty="0"/>
          </a:p>
        </p:txBody>
      </p:sp>
      <p:sp>
        <p:nvSpPr>
          <p:cNvPr id="8" name="Shape 6"/>
          <p:cNvSpPr/>
          <p:nvPr/>
        </p:nvSpPr>
        <p:spPr>
          <a:xfrm>
            <a:off x="548640" y="2944368"/>
            <a:ext cx="11109960" cy="914400"/>
          </a:xfrm>
          <a:prstGeom prst="roundRect">
            <a:avLst>
              <a:gd name="adj" fmla="val 7000"/>
            </a:avLst>
          </a:prstGeom>
          <a:solidFill>
            <a:srgbClr val="FFFFFF"/>
          </a:solidFill>
          <a:ln w="12700">
            <a:solidFill>
              <a:srgbClr val="E7EFF5"/>
            </a:solidFill>
            <a:prstDash val="solid"/>
          </a:ln>
          <a:effectLst>
            <a:outerShdw sx="100000" sy="100000" kx="0" ky="0" algn="bl" rotWithShape="0" blurRad="50800" dist="25400" dir="5400000">
              <a:srgbClr val="AAB7C4">
                <a:alpha val="25000"/>
              </a:srgbClr>
            </a:outerShdw>
          </a:effectLst>
        </p:spPr>
      </p:sp>
      <p:sp>
        <p:nvSpPr>
          <p:cNvPr id="9" name="Shape 7"/>
          <p:cNvSpPr/>
          <p:nvPr/>
        </p:nvSpPr>
        <p:spPr>
          <a:xfrm>
            <a:off x="548640" y="2944368"/>
            <a:ext cx="1600200" cy="914400"/>
          </a:xfrm>
          <a:prstGeom prst="roundRect">
            <a:avLst>
              <a:gd name="adj" fmla="val 7000"/>
            </a:avLst>
          </a:prstGeom>
          <a:solidFill>
            <a:srgbClr val="00A758"/>
          </a:solidFill>
          <a:ln/>
        </p:spPr>
      </p:sp>
      <p:sp>
        <p:nvSpPr>
          <p:cNvPr id="10" name="Text 8"/>
          <p:cNvSpPr/>
          <p:nvPr/>
        </p:nvSpPr>
        <p:spPr>
          <a:xfrm>
            <a:off x="548640" y="2944368"/>
            <a:ext cx="160020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Tune</a:t>
            </a:r>
            <a:endParaRPr lang="en-US" sz="2000" dirty="0"/>
          </a:p>
        </p:txBody>
      </p:sp>
      <p:sp>
        <p:nvSpPr>
          <p:cNvPr id="11" name="Text 9"/>
          <p:cNvSpPr/>
          <p:nvPr/>
        </p:nvSpPr>
        <p:spPr>
          <a:xfrm>
            <a:off x="2377440" y="2944368"/>
            <a:ext cx="9052560" cy="914400"/>
          </a:xfrm>
          <a:prstGeom prst="rect">
            <a:avLst/>
          </a:prstGeom>
          <a:noFill/>
          <a:ln/>
        </p:spPr>
        <p:txBody>
          <a:bodyPr wrap="square" lIns="0" tIns="0" rIns="0" bIns="0" rtlCol="0" anchor="ctr"/>
          <a:lstStyle/>
          <a:p>
            <a:pPr indent="0" marL="0">
              <a:lnSpc>
                <a:spcPts val="1900"/>
              </a:lnSpc>
              <a:buNone/>
            </a:pPr>
            <a:r>
              <a:rPr lang="en-US" sz="1400" dirty="0">
                <a:solidFill>
                  <a:srgbClr val="1B2A38"/>
                </a:solidFill>
                <a:latin typeface="Calibri" pitchFamily="34" charset="0"/>
                <a:ea typeface="Calibri" pitchFamily="34" charset="-122"/>
                <a:cs typeface="Calibri" pitchFamily="34" charset="-120"/>
              </a:rPr>
              <a:t>Operate below a 0.50 threshold, calibrated to the current loss-ratio target; review quarterly.</a:t>
            </a:r>
            <a:endParaRPr lang="en-US" sz="1400" dirty="0"/>
          </a:p>
        </p:txBody>
      </p:sp>
      <p:sp>
        <p:nvSpPr>
          <p:cNvPr id="12" name="Shape 10"/>
          <p:cNvSpPr/>
          <p:nvPr/>
        </p:nvSpPr>
        <p:spPr>
          <a:xfrm>
            <a:off x="548640" y="3968496"/>
            <a:ext cx="11109960" cy="914400"/>
          </a:xfrm>
          <a:prstGeom prst="roundRect">
            <a:avLst>
              <a:gd name="adj" fmla="val 7000"/>
            </a:avLst>
          </a:prstGeom>
          <a:solidFill>
            <a:srgbClr val="FFFFFF"/>
          </a:solidFill>
          <a:ln w="12700">
            <a:solidFill>
              <a:srgbClr val="E7EFF5"/>
            </a:solidFill>
            <a:prstDash val="solid"/>
          </a:ln>
          <a:effectLst>
            <a:outerShdw sx="100000" sy="100000" kx="0" ky="0" algn="bl" rotWithShape="0" blurRad="50800" dist="25400" dir="5400000">
              <a:srgbClr val="AAB7C4">
                <a:alpha val="25000"/>
              </a:srgbClr>
            </a:outerShdw>
          </a:effectLst>
        </p:spPr>
      </p:sp>
      <p:sp>
        <p:nvSpPr>
          <p:cNvPr id="13" name="Shape 11"/>
          <p:cNvSpPr/>
          <p:nvPr/>
        </p:nvSpPr>
        <p:spPr>
          <a:xfrm>
            <a:off x="548640" y="3968496"/>
            <a:ext cx="1600200" cy="914400"/>
          </a:xfrm>
          <a:prstGeom prst="roundRect">
            <a:avLst>
              <a:gd name="adj" fmla="val 7000"/>
            </a:avLst>
          </a:prstGeom>
          <a:solidFill>
            <a:srgbClr val="E4002B"/>
          </a:solidFill>
          <a:ln/>
        </p:spPr>
      </p:sp>
      <p:sp>
        <p:nvSpPr>
          <p:cNvPr id="14" name="Text 12"/>
          <p:cNvSpPr/>
          <p:nvPr/>
        </p:nvSpPr>
        <p:spPr>
          <a:xfrm>
            <a:off x="548640" y="3968496"/>
            <a:ext cx="160020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Focus</a:t>
            </a:r>
            <a:endParaRPr lang="en-US" sz="2000" dirty="0"/>
          </a:p>
        </p:txBody>
      </p:sp>
      <p:sp>
        <p:nvSpPr>
          <p:cNvPr id="15" name="Text 13"/>
          <p:cNvSpPr/>
          <p:nvPr/>
        </p:nvSpPr>
        <p:spPr>
          <a:xfrm>
            <a:off x="2377440" y="3968496"/>
            <a:ext cx="9052560" cy="914400"/>
          </a:xfrm>
          <a:prstGeom prst="rect">
            <a:avLst/>
          </a:prstGeom>
          <a:noFill/>
          <a:ln/>
        </p:spPr>
        <p:txBody>
          <a:bodyPr wrap="square" lIns="0" tIns="0" rIns="0" bIns="0" rtlCol="0" anchor="ctr"/>
          <a:lstStyle/>
          <a:p>
            <a:pPr indent="0" marL="0">
              <a:lnSpc>
                <a:spcPts val="1900"/>
              </a:lnSpc>
              <a:buNone/>
            </a:pPr>
            <a:r>
              <a:rPr lang="en-US" sz="1400" dirty="0">
                <a:solidFill>
                  <a:srgbClr val="1B2A38"/>
                </a:solidFill>
                <a:latin typeface="Calibri" pitchFamily="34" charset="0"/>
                <a:ea typeface="Calibri" pitchFamily="34" charset="-122"/>
                <a:cs typeface="Calibri" pitchFamily="34" charset="-120"/>
              </a:rPr>
              <a:t>Direct underwriting scrutiny to older / lower-health segments; de-emphasise income &amp; BMI (no signal).</a:t>
            </a:r>
            <a:endParaRPr lang="en-US" sz="1400" dirty="0"/>
          </a:p>
        </p:txBody>
      </p:sp>
      <p:sp>
        <p:nvSpPr>
          <p:cNvPr id="16" name="Shape 14"/>
          <p:cNvSpPr/>
          <p:nvPr/>
        </p:nvSpPr>
        <p:spPr>
          <a:xfrm>
            <a:off x="548640" y="4992624"/>
            <a:ext cx="11109960" cy="914400"/>
          </a:xfrm>
          <a:prstGeom prst="roundRect">
            <a:avLst>
              <a:gd name="adj" fmla="val 7000"/>
            </a:avLst>
          </a:prstGeom>
          <a:solidFill>
            <a:srgbClr val="FFFFFF"/>
          </a:solidFill>
          <a:ln w="12700">
            <a:solidFill>
              <a:srgbClr val="E7EFF5"/>
            </a:solidFill>
            <a:prstDash val="solid"/>
          </a:ln>
          <a:effectLst>
            <a:outerShdw sx="100000" sy="100000" kx="0" ky="0" algn="bl" rotWithShape="0" blurRad="50800" dist="25400" dir="5400000">
              <a:srgbClr val="AAB7C4">
                <a:alpha val="25000"/>
              </a:srgbClr>
            </a:outerShdw>
          </a:effectLst>
        </p:spPr>
      </p:sp>
      <p:sp>
        <p:nvSpPr>
          <p:cNvPr id="17" name="Shape 15"/>
          <p:cNvSpPr/>
          <p:nvPr/>
        </p:nvSpPr>
        <p:spPr>
          <a:xfrm>
            <a:off x="548640" y="4992624"/>
            <a:ext cx="1600200" cy="914400"/>
          </a:xfrm>
          <a:prstGeom prst="roundRect">
            <a:avLst>
              <a:gd name="adj" fmla="val 7000"/>
            </a:avLst>
          </a:prstGeom>
          <a:solidFill>
            <a:srgbClr val="12283A"/>
          </a:solidFill>
          <a:ln/>
        </p:spPr>
      </p:sp>
      <p:sp>
        <p:nvSpPr>
          <p:cNvPr id="18" name="Text 16"/>
          <p:cNvSpPr/>
          <p:nvPr/>
        </p:nvSpPr>
        <p:spPr>
          <a:xfrm>
            <a:off x="548640" y="4992624"/>
            <a:ext cx="160020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Enable</a:t>
            </a:r>
            <a:endParaRPr lang="en-US" sz="2000" dirty="0"/>
          </a:p>
        </p:txBody>
      </p:sp>
      <p:sp>
        <p:nvSpPr>
          <p:cNvPr id="19" name="Text 17"/>
          <p:cNvSpPr/>
          <p:nvPr/>
        </p:nvSpPr>
        <p:spPr>
          <a:xfrm>
            <a:off x="2377440" y="4992624"/>
            <a:ext cx="9052560" cy="914400"/>
          </a:xfrm>
          <a:prstGeom prst="rect">
            <a:avLst/>
          </a:prstGeom>
          <a:noFill/>
          <a:ln/>
        </p:spPr>
        <p:txBody>
          <a:bodyPr wrap="square" lIns="0" tIns="0" rIns="0" bIns="0" rtlCol="0" anchor="ctr"/>
          <a:lstStyle/>
          <a:p>
            <a:pPr indent="0" marL="0">
              <a:lnSpc>
                <a:spcPts val="1900"/>
              </a:lnSpc>
              <a:buNone/>
            </a:pPr>
            <a:r>
              <a:rPr lang="en-US" sz="1400" dirty="0">
                <a:solidFill>
                  <a:srgbClr val="1B2A38"/>
                </a:solidFill>
                <a:latin typeface="Calibri" pitchFamily="34" charset="0"/>
                <a:ea typeface="Calibri" pitchFamily="34" charset="-122"/>
                <a:cs typeface="Calibri" pitchFamily="34" charset="-120"/>
              </a:rPr>
              <a:t>Roll out the app + GenAI assistant to underwriting teams as day-to-day decision support.</a:t>
            </a:r>
            <a:endParaRPr lang="en-US" sz="1400" dirty="0"/>
          </a:p>
        </p:txBody>
      </p:sp>
      <p:sp>
        <p:nvSpPr>
          <p:cNvPr id="20" name="Text 18"/>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B6770"/>
                </a:solidFill>
                <a:latin typeface="Calibri" pitchFamily="34" charset="0"/>
                <a:ea typeface="Calibri" pitchFamily="34" charset="-122"/>
                <a:cs typeface="Calibri" pitchFamily="34" charset="-120"/>
              </a:rPr>
              <a:t>High-Risk Customer Prediction · Pavel Bodle</a:t>
            </a:r>
            <a:endParaRPr lang="en-US" sz="900" dirty="0"/>
          </a:p>
        </p:txBody>
      </p:sp>
      <p:sp>
        <p:nvSpPr>
          <p:cNvPr id="21" name="Text 19"/>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B677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28800" y="3566160"/>
            <a:ext cx="5486400" cy="5486400"/>
          </a:xfrm>
          <a:prstGeom prst="ellipse">
            <a:avLst/>
          </a:prstGeom>
          <a:solidFill>
            <a:srgbClr val="EAF4FB"/>
          </a:solidFill>
          <a:ln/>
        </p:spPr>
      </p:sp>
      <p:sp>
        <p:nvSpPr>
          <p:cNvPr id="3" name="Shape 1"/>
          <p:cNvSpPr/>
          <p:nvPr/>
        </p:nvSpPr>
        <p:spPr>
          <a:xfrm>
            <a:off x="9509760" y="-1828800"/>
            <a:ext cx="4937760" cy="4937760"/>
          </a:xfrm>
          <a:prstGeom prst="ellipse">
            <a:avLst/>
          </a:prstGeom>
          <a:solidFill>
            <a:srgbClr val="EAF7F0"/>
          </a:solidFill>
          <a:ln/>
        </p:spPr>
      </p:sp>
      <p:sp>
        <p:nvSpPr>
          <p:cNvPr id="4" name="Shape 2"/>
          <p:cNvSpPr/>
          <p:nvPr/>
        </p:nvSpPr>
        <p:spPr>
          <a:xfrm>
            <a:off x="1005840" y="4754880"/>
            <a:ext cx="1188720" cy="1188720"/>
          </a:xfrm>
          <a:prstGeom prst="ellipse">
            <a:avLst/>
          </a:prstGeom>
          <a:solidFill>
            <a:srgbClr val="00A758">
              <a:alpha val="45000"/>
            </a:srgbClr>
          </a:solidFill>
          <a:ln/>
        </p:spPr>
      </p:sp>
      <p:sp>
        <p:nvSpPr>
          <p:cNvPr id="5" name="Text 3"/>
          <p:cNvSpPr/>
          <p:nvPr/>
        </p:nvSpPr>
        <p:spPr>
          <a:xfrm>
            <a:off x="822960" y="1554480"/>
            <a:ext cx="9144000" cy="914400"/>
          </a:xfrm>
          <a:prstGeom prst="rect">
            <a:avLst/>
          </a:prstGeom>
          <a:noFill/>
          <a:ln/>
        </p:spPr>
        <p:txBody>
          <a:bodyPr wrap="square" lIns="0" tIns="0" rIns="0" bIns="0" rtlCol="0" anchor="ctr"/>
          <a:lstStyle/>
          <a:p>
            <a:pPr indent="0" marL="0">
              <a:buNone/>
            </a:pPr>
            <a:r>
              <a:rPr lang="en-US" sz="5000" b="1" dirty="0">
                <a:solidFill>
                  <a:srgbClr val="1B2A38"/>
                </a:solidFill>
                <a:latin typeface="Cambria" pitchFamily="34" charset="0"/>
                <a:ea typeface="Cambria" pitchFamily="34" charset="-122"/>
                <a:cs typeface="Cambria" pitchFamily="34" charset="-120"/>
              </a:rPr>
              <a:t>Thank you</a:t>
            </a:r>
            <a:endParaRPr lang="en-US" sz="5000" dirty="0"/>
          </a:p>
        </p:txBody>
      </p:sp>
      <p:sp>
        <p:nvSpPr>
          <p:cNvPr id="6" name="Text 4"/>
          <p:cNvSpPr/>
          <p:nvPr/>
        </p:nvSpPr>
        <p:spPr>
          <a:xfrm>
            <a:off x="868680" y="2697480"/>
            <a:ext cx="9601200" cy="548640"/>
          </a:xfrm>
          <a:prstGeom prst="rect">
            <a:avLst/>
          </a:prstGeom>
          <a:noFill/>
          <a:ln/>
        </p:spPr>
        <p:txBody>
          <a:bodyPr wrap="square" lIns="0" tIns="0" rIns="0" bIns="0" rtlCol="0" anchor="ctr"/>
          <a:lstStyle/>
          <a:p>
            <a:pPr indent="0" marL="0">
              <a:buNone/>
            </a:pPr>
            <a:r>
              <a:rPr lang="en-US" sz="1800" dirty="0">
                <a:solidFill>
                  <a:srgbClr val="5B6770"/>
                </a:solidFill>
                <a:latin typeface="Calibri" pitchFamily="34" charset="0"/>
                <a:ea typeface="Calibri" pitchFamily="34" charset="-122"/>
                <a:cs typeface="Calibri" pitchFamily="34" charset="-120"/>
              </a:rPr>
              <a:t>Accurate where it counts · explainable by design · usable by everyone.</a:t>
            </a:r>
            <a:endParaRPr lang="en-US" sz="1800" dirty="0"/>
          </a:p>
        </p:txBody>
      </p:sp>
      <p:sp>
        <p:nvSpPr>
          <p:cNvPr id="7" name="Text 5"/>
          <p:cNvSpPr/>
          <p:nvPr/>
        </p:nvSpPr>
        <p:spPr>
          <a:xfrm>
            <a:off x="868680" y="3520440"/>
            <a:ext cx="10058400" cy="365760"/>
          </a:xfrm>
          <a:prstGeom prst="rect">
            <a:avLst/>
          </a:prstGeom>
          <a:noFill/>
          <a:ln/>
        </p:spPr>
        <p:txBody>
          <a:bodyPr wrap="square" lIns="0" tIns="0" rIns="0" bIns="0" rtlCol="0" anchor="ctr"/>
          <a:lstStyle/>
          <a:p>
            <a:pPr indent="0" marL="0">
              <a:buNone/>
            </a:pPr>
            <a:r>
              <a:rPr lang="en-US" sz="1400" b="1" dirty="0">
                <a:solidFill>
                  <a:srgbClr val="00A758"/>
                </a:solidFill>
                <a:latin typeface="Calibri" pitchFamily="34" charset="0"/>
                <a:ea typeface="Calibri" pitchFamily="34" charset="-122"/>
                <a:cs typeface="Calibri" pitchFamily="34" charset="-120"/>
              </a:rPr>
              <a:t>AUROC 0.7803</a:t>
            </a:r>
            <a:pPr indent="0" marL="0">
              <a:buNone/>
            </a:pPr>
            <a:r>
              <a:rPr lang="en-US" sz="1400" dirty="0">
                <a:solidFill>
                  <a:srgbClr val="1B2A38"/>
                </a:solidFill>
                <a:latin typeface="Calibri" pitchFamily="34" charset="0"/>
                <a:ea typeface="Calibri" pitchFamily="34" charset="-122"/>
                <a:cs typeface="Calibri" pitchFamily="34" charset="-120"/>
              </a:rPr>
              <a:t>   ·   Streamlit app + GenAI assistant   ·   fully reproducible</a:t>
            </a:r>
            <a:endParaRPr lang="en-US" sz="1400" dirty="0"/>
          </a:p>
        </p:txBody>
      </p:sp>
      <p:sp>
        <p:nvSpPr>
          <p:cNvPr id="8" name="Shape 6"/>
          <p:cNvSpPr/>
          <p:nvPr/>
        </p:nvSpPr>
        <p:spPr>
          <a:xfrm>
            <a:off x="914400" y="4206240"/>
            <a:ext cx="4754880" cy="0"/>
          </a:xfrm>
          <a:prstGeom prst="line">
            <a:avLst/>
          </a:prstGeom>
          <a:noFill/>
          <a:ln w="19050">
            <a:solidFill>
              <a:srgbClr val="E7EFF5"/>
            </a:solidFill>
            <a:prstDash val="solid"/>
          </a:ln>
        </p:spPr>
      </p:sp>
      <p:sp>
        <p:nvSpPr>
          <p:cNvPr id="9" name="Text 7"/>
          <p:cNvSpPr/>
          <p:nvPr/>
        </p:nvSpPr>
        <p:spPr>
          <a:xfrm>
            <a:off x="914400" y="4389120"/>
            <a:ext cx="8229600" cy="292608"/>
          </a:xfrm>
          <a:prstGeom prst="rect">
            <a:avLst/>
          </a:prstGeom>
          <a:noFill/>
          <a:ln/>
        </p:spPr>
        <p:txBody>
          <a:bodyPr wrap="square" lIns="0" tIns="0" rIns="0" bIns="0" rtlCol="0" anchor="ctr"/>
          <a:lstStyle/>
          <a:p>
            <a:pPr indent="0" marL="0">
              <a:buNone/>
            </a:pPr>
            <a:r>
              <a:rPr lang="en-US" sz="1500" dirty="0">
                <a:solidFill>
                  <a:srgbClr val="5B6770"/>
                </a:solidFill>
                <a:latin typeface="Calibri" pitchFamily="34" charset="0"/>
                <a:ea typeface="Calibri" pitchFamily="34" charset="-122"/>
                <a:cs typeface="Calibri" pitchFamily="34" charset="-120"/>
              </a:rPr>
              <a:t>Submitted by  </a:t>
            </a:r>
            <a:pPr indent="0" marL="0">
              <a:buNone/>
            </a:pPr>
            <a:r>
              <a:rPr lang="en-US" sz="1500" b="1" dirty="0">
                <a:solidFill>
                  <a:srgbClr val="1B2A38"/>
                </a:solidFill>
                <a:latin typeface="Calibri" pitchFamily="34" charset="0"/>
                <a:ea typeface="Calibri" pitchFamily="34" charset="-122"/>
                <a:cs typeface="Calibri" pitchFamily="34" charset="-120"/>
              </a:rPr>
              <a:t>Pavel Daulat Bodle</a:t>
            </a:r>
            <a:endParaRPr lang="en-US" sz="1500" dirty="0"/>
          </a:p>
        </p:txBody>
      </p:sp>
      <p:sp>
        <p:nvSpPr>
          <p:cNvPr id="10" name="Text 8"/>
          <p:cNvSpPr/>
          <p:nvPr/>
        </p:nvSpPr>
        <p:spPr>
          <a:xfrm>
            <a:off x="914400" y="4700016"/>
            <a:ext cx="8229600" cy="274320"/>
          </a:xfrm>
          <a:prstGeom prst="rect">
            <a:avLst/>
          </a:prstGeom>
          <a:noFill/>
          <a:ln/>
        </p:spPr>
        <p:txBody>
          <a:bodyPr wrap="square" lIns="0" tIns="0" rIns="0" bIns="0" rtlCol="0" anchor="ctr"/>
          <a:lstStyle/>
          <a:p>
            <a:pPr indent="0" marL="0">
              <a:buNone/>
            </a:pPr>
            <a:r>
              <a:rPr lang="en-US" sz="1250" dirty="0">
                <a:solidFill>
                  <a:srgbClr val="5B6770"/>
                </a:solidFill>
                <a:latin typeface="Calibri" pitchFamily="34" charset="0"/>
                <a:ea typeface="Calibri" pitchFamily="34" charset="-122"/>
                <a:cs typeface="Calibri" pitchFamily="34" charset="-120"/>
              </a:rPr>
              <a:t>Senior AI Engineer</a:t>
            </a:r>
            <a:endParaRPr lang="en-US" sz="1250" dirty="0"/>
          </a:p>
        </p:txBody>
      </p:sp>
      <p:sp>
        <p:nvSpPr>
          <p:cNvPr id="11" name="Text 9"/>
          <p:cNvSpPr/>
          <p:nvPr/>
        </p:nvSpPr>
        <p:spPr>
          <a:xfrm>
            <a:off x="914400" y="5029200"/>
            <a:ext cx="10515600" cy="274320"/>
          </a:xfrm>
          <a:prstGeom prst="rect">
            <a:avLst/>
          </a:prstGeom>
          <a:noFill/>
          <a:ln/>
        </p:spPr>
        <p:txBody>
          <a:bodyPr wrap="square" lIns="0" tIns="0" rIns="0" bIns="0" rtlCol="0" anchor="ctr"/>
          <a:lstStyle/>
          <a:p>
            <a:pPr indent="0" marL="0">
              <a:buNone/>
            </a:pPr>
            <a:r>
              <a:rPr lang="en-US" sz="1150" dirty="0">
                <a:solidFill>
                  <a:srgbClr val="0090DA"/>
                </a:solidFill>
                <a:latin typeface="Calibri" pitchFamily="34" charset="0"/>
                <a:ea typeface="Calibri" pitchFamily="34" charset="-122"/>
                <a:cs typeface="Calibri" pitchFamily="34" charset="-120"/>
              </a:rPr>
              <a:t>🔗 linkedin.com/in/pavelbodle</a:t>
            </a:r>
            <a:pPr indent="0" marL="0">
              <a:buNone/>
            </a:pPr>
            <a:r>
              <a:rPr lang="en-US" sz="1150" dirty="0">
                <a:solidFill>
                  <a:srgbClr val="0090DA"/>
                </a:solidFill>
                <a:latin typeface="Calibri" pitchFamily="34" charset="0"/>
                <a:ea typeface="Calibri" pitchFamily="34" charset="-122"/>
                <a:cs typeface="Calibri" pitchFamily="34" charset="-120"/>
              </a:rPr>
              <a:t>      🐙 github.com/pavelbodle</a:t>
            </a:r>
            <a:pPr indent="0" marL="0">
              <a:buNone/>
            </a:pPr>
            <a:r>
              <a:rPr lang="en-US" sz="1150" dirty="0">
                <a:solidFill>
                  <a:srgbClr val="0090DA"/>
                </a:solidFill>
                <a:latin typeface="Calibri" pitchFamily="34" charset="0"/>
                <a:ea typeface="Calibri" pitchFamily="34" charset="-122"/>
                <a:cs typeface="Calibri" pitchFamily="34" charset="-120"/>
              </a:rPr>
              <a:t>      📧 paveliitb@gmail.com</a:t>
            </a:r>
            <a:endParaRPr lang="en-US" sz="1150" dirty="0"/>
          </a:p>
        </p:txBody>
      </p:sp>
      <p:sp>
        <p:nvSpPr>
          <p:cNvPr id="12" name="Text 10"/>
          <p:cNvSpPr/>
          <p:nvPr/>
        </p:nvSpPr>
        <p:spPr>
          <a:xfrm>
            <a:off x="868680" y="5989320"/>
            <a:ext cx="10058400" cy="320040"/>
          </a:xfrm>
          <a:prstGeom prst="rect">
            <a:avLst/>
          </a:prstGeom>
          <a:noFill/>
          <a:ln/>
        </p:spPr>
        <p:txBody>
          <a:bodyPr wrap="square" lIns="0" tIns="0" rIns="0" bIns="0" rtlCol="0" anchor="ctr"/>
          <a:lstStyle/>
          <a:p>
            <a:pPr indent="0" marL="0">
              <a:buNone/>
            </a:pPr>
            <a:r>
              <a:rPr lang="en-US" sz="1150" i="1" dirty="0">
                <a:solidFill>
                  <a:srgbClr val="5B6770"/>
                </a:solidFill>
                <a:latin typeface="Calibri" pitchFamily="34" charset="0"/>
                <a:ea typeface="Calibri" pitchFamily="34" charset="-122"/>
                <a:cs typeface="Calibri" pitchFamily="34" charset="-120"/>
              </a:rPr>
              <a:t>See the appendix for all links (app, repo, documents).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90DA"/>
                </a:solidFill>
                <a:latin typeface="Calibri" pitchFamily="34" charset="0"/>
                <a:ea typeface="Calibri" pitchFamily="34" charset="-122"/>
                <a:cs typeface="Calibri" pitchFamily="34" charset="-120"/>
              </a:rPr>
              <a:t>APPENDIX</a:t>
            </a:r>
            <a:endParaRPr lang="en-US" sz="1200" dirty="0"/>
          </a:p>
        </p:txBody>
      </p:sp>
      <p:sp>
        <p:nvSpPr>
          <p:cNvPr id="3" name="Text 1"/>
          <p:cNvSpPr/>
          <p:nvPr/>
        </p:nvSpPr>
        <p:spPr>
          <a:xfrm>
            <a:off x="548640" y="777240"/>
            <a:ext cx="10972800" cy="822960"/>
          </a:xfrm>
          <a:prstGeom prst="rect">
            <a:avLst/>
          </a:prstGeom>
          <a:noFill/>
          <a:ln/>
        </p:spPr>
        <p:txBody>
          <a:bodyPr wrap="square" lIns="0" tIns="0" rIns="0" bIns="0" rtlCol="0" anchor="ctr"/>
          <a:lstStyle/>
          <a:p>
            <a:pPr indent="0" marL="0">
              <a:buNone/>
            </a:pPr>
            <a:r>
              <a:rPr lang="en-US" sz="3200" b="1" dirty="0">
                <a:solidFill>
                  <a:srgbClr val="1B2A38"/>
                </a:solidFill>
                <a:latin typeface="Cambria" pitchFamily="34" charset="0"/>
                <a:ea typeface="Cambria" pitchFamily="34" charset="-122"/>
                <a:cs typeface="Cambria" pitchFamily="34" charset="-120"/>
              </a:rPr>
              <a:t>Links &amp; deliverables</a:t>
            </a:r>
            <a:endParaRPr lang="en-US" sz="3200" dirty="0"/>
          </a:p>
        </p:txBody>
      </p:sp>
      <p:sp>
        <p:nvSpPr>
          <p:cNvPr id="4" name="Shape 2"/>
          <p:cNvSpPr/>
          <p:nvPr/>
        </p:nvSpPr>
        <p:spPr>
          <a:xfrm>
            <a:off x="548640" y="1783080"/>
            <a:ext cx="11109960" cy="603504"/>
          </a:xfrm>
          <a:prstGeom prst="roundRect">
            <a:avLst>
              <a:gd name="adj" fmla="val 9091"/>
            </a:avLst>
          </a:prstGeom>
          <a:solidFill>
            <a:srgbClr val="FFFFFF"/>
          </a:solidFill>
          <a:ln w="12700">
            <a:solidFill>
              <a:srgbClr val="E7EFF5"/>
            </a:solidFill>
            <a:prstDash val="solid"/>
          </a:ln>
        </p:spPr>
      </p:sp>
      <p:sp>
        <p:nvSpPr>
          <p:cNvPr id="5" name="Shape 3"/>
          <p:cNvSpPr/>
          <p:nvPr/>
        </p:nvSpPr>
        <p:spPr>
          <a:xfrm>
            <a:off x="713232" y="1901952"/>
            <a:ext cx="365760" cy="365760"/>
          </a:xfrm>
          <a:prstGeom prst="ellipse">
            <a:avLst/>
          </a:prstGeom>
          <a:solidFill>
            <a:srgbClr val="0090DA"/>
          </a:solidFill>
          <a:ln/>
        </p:spPr>
      </p:sp>
      <p:sp>
        <p:nvSpPr>
          <p:cNvPr id="6" name="Text 4"/>
          <p:cNvSpPr/>
          <p:nvPr/>
        </p:nvSpPr>
        <p:spPr>
          <a:xfrm>
            <a:off x="713232" y="1901952"/>
            <a:ext cx="365760" cy="365760"/>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7" name="Text 5"/>
          <p:cNvSpPr/>
          <p:nvPr/>
        </p:nvSpPr>
        <p:spPr>
          <a:xfrm>
            <a:off x="1280160" y="1783080"/>
            <a:ext cx="3931920" cy="603504"/>
          </a:xfrm>
          <a:prstGeom prst="rect">
            <a:avLst/>
          </a:prstGeom>
          <a:noFill/>
          <a:ln/>
        </p:spPr>
        <p:txBody>
          <a:bodyPr wrap="square" lIns="0" tIns="0" rIns="0" bIns="0" rtlCol="0" anchor="ctr"/>
          <a:lstStyle/>
          <a:p>
            <a:pPr indent="0" marL="0">
              <a:buNone/>
            </a:pPr>
            <a:r>
              <a:rPr lang="en-US" sz="1350" b="1" dirty="0">
                <a:solidFill>
                  <a:srgbClr val="1B2A38"/>
                </a:solidFill>
                <a:latin typeface="Calibri" pitchFamily="34" charset="0"/>
                <a:ea typeface="Calibri" pitchFamily="34" charset="-122"/>
                <a:cs typeface="Calibri" pitchFamily="34" charset="-120"/>
              </a:rPr>
              <a:t>Live app (Streamlit Cloud)</a:t>
            </a:r>
            <a:endParaRPr lang="en-US" sz="1350" dirty="0"/>
          </a:p>
        </p:txBody>
      </p:sp>
      <p:sp>
        <p:nvSpPr>
          <p:cNvPr id="8" name="Text 6"/>
          <p:cNvSpPr/>
          <p:nvPr/>
        </p:nvSpPr>
        <p:spPr>
          <a:xfrm>
            <a:off x="5303520" y="1783080"/>
            <a:ext cx="6126480" cy="603504"/>
          </a:xfrm>
          <a:prstGeom prst="rect">
            <a:avLst/>
          </a:prstGeom>
          <a:noFill/>
          <a:ln/>
        </p:spPr>
        <p:txBody>
          <a:bodyPr wrap="square" lIns="0" tIns="0" rIns="0" bIns="0" rtlCol="0" anchor="ctr"/>
          <a:lstStyle/>
          <a:p>
            <a:pPr indent="0" marL="0">
              <a:buNone/>
            </a:pPr>
            <a:r>
              <a:rPr lang="en-US" sz="1250" dirty="0">
                <a:solidFill>
                  <a:srgbClr val="0090DA"/>
                </a:solidFill>
                <a:latin typeface="Calibri" pitchFamily="34" charset="0"/>
                <a:ea typeface="Calibri" pitchFamily="34" charset="-122"/>
                <a:cs typeface="Calibri" pitchFamily="34" charset="-120"/>
              </a:rPr>
              <a:t>‹ paste your deployed app URL here ›</a:t>
            </a:r>
            <a:endParaRPr lang="en-US" sz="1250" dirty="0"/>
          </a:p>
        </p:txBody>
      </p:sp>
      <p:sp>
        <p:nvSpPr>
          <p:cNvPr id="9" name="Shape 7"/>
          <p:cNvSpPr/>
          <p:nvPr/>
        </p:nvSpPr>
        <p:spPr>
          <a:xfrm>
            <a:off x="548640" y="2459736"/>
            <a:ext cx="11109960" cy="603504"/>
          </a:xfrm>
          <a:prstGeom prst="roundRect">
            <a:avLst>
              <a:gd name="adj" fmla="val 9091"/>
            </a:avLst>
          </a:prstGeom>
          <a:solidFill>
            <a:srgbClr val="FFFFFF"/>
          </a:solidFill>
          <a:ln w="12700">
            <a:solidFill>
              <a:srgbClr val="E7EFF5"/>
            </a:solidFill>
            <a:prstDash val="solid"/>
          </a:ln>
        </p:spPr>
      </p:sp>
      <p:sp>
        <p:nvSpPr>
          <p:cNvPr id="10" name="Shape 8"/>
          <p:cNvSpPr/>
          <p:nvPr/>
        </p:nvSpPr>
        <p:spPr>
          <a:xfrm>
            <a:off x="713232" y="2578608"/>
            <a:ext cx="365760" cy="365760"/>
          </a:xfrm>
          <a:prstGeom prst="ellipse">
            <a:avLst/>
          </a:prstGeom>
          <a:solidFill>
            <a:srgbClr val="1B2A38"/>
          </a:solidFill>
          <a:ln/>
        </p:spPr>
      </p:sp>
      <p:sp>
        <p:nvSpPr>
          <p:cNvPr id="11" name="Text 9"/>
          <p:cNvSpPr/>
          <p:nvPr/>
        </p:nvSpPr>
        <p:spPr>
          <a:xfrm>
            <a:off x="713232" y="2578608"/>
            <a:ext cx="365760" cy="365760"/>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12" name="Text 10"/>
          <p:cNvSpPr/>
          <p:nvPr/>
        </p:nvSpPr>
        <p:spPr>
          <a:xfrm>
            <a:off x="1280160" y="2459736"/>
            <a:ext cx="3931920" cy="603504"/>
          </a:xfrm>
          <a:prstGeom prst="rect">
            <a:avLst/>
          </a:prstGeom>
          <a:noFill/>
          <a:ln/>
        </p:spPr>
        <p:txBody>
          <a:bodyPr wrap="square" lIns="0" tIns="0" rIns="0" bIns="0" rtlCol="0" anchor="ctr"/>
          <a:lstStyle/>
          <a:p>
            <a:pPr indent="0" marL="0">
              <a:buNone/>
            </a:pPr>
            <a:r>
              <a:rPr lang="en-US" sz="1350" b="1" dirty="0">
                <a:solidFill>
                  <a:srgbClr val="1B2A38"/>
                </a:solidFill>
                <a:latin typeface="Calibri" pitchFamily="34" charset="0"/>
                <a:ea typeface="Calibri" pitchFamily="34" charset="-122"/>
                <a:cs typeface="Calibri" pitchFamily="34" charset="-120"/>
              </a:rPr>
              <a:t>GitHub repository</a:t>
            </a:r>
            <a:endParaRPr lang="en-US" sz="1350" dirty="0"/>
          </a:p>
        </p:txBody>
      </p:sp>
      <p:sp>
        <p:nvSpPr>
          <p:cNvPr id="13" name="Text 11"/>
          <p:cNvSpPr/>
          <p:nvPr/>
        </p:nvSpPr>
        <p:spPr>
          <a:xfrm>
            <a:off x="5303520" y="2459736"/>
            <a:ext cx="6126480" cy="603504"/>
          </a:xfrm>
          <a:prstGeom prst="rect">
            <a:avLst/>
          </a:prstGeom>
          <a:noFill/>
          <a:ln/>
        </p:spPr>
        <p:txBody>
          <a:bodyPr wrap="square" lIns="0" tIns="0" rIns="0" bIns="0" rtlCol="0" anchor="ctr"/>
          <a:lstStyle/>
          <a:p>
            <a:pPr indent="0" marL="0">
              <a:buNone/>
            </a:pPr>
            <a:r>
              <a:rPr lang="en-US" sz="1250" dirty="0">
                <a:solidFill>
                  <a:srgbClr val="0090DA"/>
                </a:solidFill>
                <a:latin typeface="Calibri" pitchFamily="34" charset="0"/>
                <a:ea typeface="Calibri" pitchFamily="34" charset="-122"/>
                <a:cs typeface="Calibri" pitchFamily="34" charset="-120"/>
              </a:rPr>
              <a:t>github.com/PavelBodle/metlife-high-risk-app</a:t>
            </a:r>
            <a:endParaRPr lang="en-US" sz="1250" dirty="0"/>
          </a:p>
        </p:txBody>
      </p:sp>
      <p:sp>
        <p:nvSpPr>
          <p:cNvPr id="14" name="Shape 12"/>
          <p:cNvSpPr/>
          <p:nvPr/>
        </p:nvSpPr>
        <p:spPr>
          <a:xfrm>
            <a:off x="548640" y="3136392"/>
            <a:ext cx="11109960" cy="603504"/>
          </a:xfrm>
          <a:prstGeom prst="roundRect">
            <a:avLst>
              <a:gd name="adj" fmla="val 9091"/>
            </a:avLst>
          </a:prstGeom>
          <a:solidFill>
            <a:srgbClr val="FFFFFF"/>
          </a:solidFill>
          <a:ln w="12700">
            <a:solidFill>
              <a:srgbClr val="E7EFF5"/>
            </a:solidFill>
            <a:prstDash val="solid"/>
          </a:ln>
        </p:spPr>
      </p:sp>
      <p:sp>
        <p:nvSpPr>
          <p:cNvPr id="15" name="Shape 13"/>
          <p:cNvSpPr/>
          <p:nvPr/>
        </p:nvSpPr>
        <p:spPr>
          <a:xfrm>
            <a:off x="713232" y="3255264"/>
            <a:ext cx="365760" cy="365760"/>
          </a:xfrm>
          <a:prstGeom prst="ellipse">
            <a:avLst/>
          </a:prstGeom>
          <a:solidFill>
            <a:srgbClr val="00A758"/>
          </a:solidFill>
          <a:ln/>
        </p:spPr>
      </p:sp>
      <p:sp>
        <p:nvSpPr>
          <p:cNvPr id="16" name="Text 14"/>
          <p:cNvSpPr/>
          <p:nvPr/>
        </p:nvSpPr>
        <p:spPr>
          <a:xfrm>
            <a:off x="713232" y="3255264"/>
            <a:ext cx="365760" cy="365760"/>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17" name="Text 15"/>
          <p:cNvSpPr/>
          <p:nvPr/>
        </p:nvSpPr>
        <p:spPr>
          <a:xfrm>
            <a:off x="1280160" y="3136392"/>
            <a:ext cx="3931920" cy="603504"/>
          </a:xfrm>
          <a:prstGeom prst="rect">
            <a:avLst/>
          </a:prstGeom>
          <a:noFill/>
          <a:ln/>
        </p:spPr>
        <p:txBody>
          <a:bodyPr wrap="square" lIns="0" tIns="0" rIns="0" bIns="0" rtlCol="0" anchor="ctr"/>
          <a:lstStyle/>
          <a:p>
            <a:pPr indent="0" marL="0">
              <a:buNone/>
            </a:pPr>
            <a:r>
              <a:rPr lang="en-US" sz="1350" b="1" dirty="0">
                <a:solidFill>
                  <a:srgbClr val="1B2A38"/>
                </a:solidFill>
                <a:latin typeface="Calibri" pitchFamily="34" charset="0"/>
                <a:ea typeface="Calibri" pitchFamily="34" charset="-122"/>
                <a:cs typeface="Calibri" pitchFamily="34" charset="-120"/>
              </a:rPr>
              <a:t>Answers document (Q1–Q4)</a:t>
            </a:r>
            <a:endParaRPr lang="en-US" sz="1350" dirty="0"/>
          </a:p>
        </p:txBody>
      </p:sp>
      <p:sp>
        <p:nvSpPr>
          <p:cNvPr id="18" name="Text 16"/>
          <p:cNvSpPr/>
          <p:nvPr/>
        </p:nvSpPr>
        <p:spPr>
          <a:xfrm>
            <a:off x="5303520" y="3136392"/>
            <a:ext cx="6126480" cy="603504"/>
          </a:xfrm>
          <a:prstGeom prst="rect">
            <a:avLst/>
          </a:prstGeom>
          <a:noFill/>
          <a:ln/>
        </p:spPr>
        <p:txBody>
          <a:bodyPr wrap="square" lIns="0" tIns="0" rIns="0" bIns="0" rtlCol="0" anchor="ctr"/>
          <a:lstStyle/>
          <a:p>
            <a:pPr indent="0" marL="0">
              <a:buNone/>
            </a:pPr>
            <a:r>
              <a:rPr lang="en-US" sz="1250" dirty="0">
                <a:solidFill>
                  <a:srgbClr val="0090DA"/>
                </a:solidFill>
                <a:latin typeface="Calibri" pitchFamily="34" charset="0"/>
                <a:ea typeface="Calibri" pitchFamily="34" charset="-122"/>
                <a:cs typeface="Calibri" pitchFamily="34" charset="-120"/>
              </a:rPr>
              <a:t>‹ link or attached file ›</a:t>
            </a:r>
            <a:endParaRPr lang="en-US" sz="1250" dirty="0"/>
          </a:p>
        </p:txBody>
      </p:sp>
      <p:sp>
        <p:nvSpPr>
          <p:cNvPr id="19" name="Shape 17"/>
          <p:cNvSpPr/>
          <p:nvPr/>
        </p:nvSpPr>
        <p:spPr>
          <a:xfrm>
            <a:off x="548640" y="3813048"/>
            <a:ext cx="11109960" cy="603504"/>
          </a:xfrm>
          <a:prstGeom prst="roundRect">
            <a:avLst>
              <a:gd name="adj" fmla="val 9091"/>
            </a:avLst>
          </a:prstGeom>
          <a:solidFill>
            <a:srgbClr val="FFFFFF"/>
          </a:solidFill>
          <a:ln w="12700">
            <a:solidFill>
              <a:srgbClr val="E7EFF5"/>
            </a:solidFill>
            <a:prstDash val="solid"/>
          </a:ln>
        </p:spPr>
      </p:sp>
      <p:sp>
        <p:nvSpPr>
          <p:cNvPr id="20" name="Shape 18"/>
          <p:cNvSpPr/>
          <p:nvPr/>
        </p:nvSpPr>
        <p:spPr>
          <a:xfrm>
            <a:off x="713232" y="3931920"/>
            <a:ext cx="365760" cy="365760"/>
          </a:xfrm>
          <a:prstGeom prst="ellipse">
            <a:avLst/>
          </a:prstGeom>
          <a:solidFill>
            <a:srgbClr val="0090DA"/>
          </a:solidFill>
          <a:ln/>
        </p:spPr>
      </p:sp>
      <p:sp>
        <p:nvSpPr>
          <p:cNvPr id="21" name="Text 19"/>
          <p:cNvSpPr/>
          <p:nvPr/>
        </p:nvSpPr>
        <p:spPr>
          <a:xfrm>
            <a:off x="713232" y="3931920"/>
            <a:ext cx="365760" cy="365760"/>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22" name="Text 20"/>
          <p:cNvSpPr/>
          <p:nvPr/>
        </p:nvSpPr>
        <p:spPr>
          <a:xfrm>
            <a:off x="1280160" y="3813048"/>
            <a:ext cx="3931920" cy="603504"/>
          </a:xfrm>
          <a:prstGeom prst="rect">
            <a:avLst/>
          </a:prstGeom>
          <a:noFill/>
          <a:ln/>
        </p:spPr>
        <p:txBody>
          <a:bodyPr wrap="square" lIns="0" tIns="0" rIns="0" bIns="0" rtlCol="0" anchor="ctr"/>
          <a:lstStyle/>
          <a:p>
            <a:pPr indent="0" marL="0">
              <a:buNone/>
            </a:pPr>
            <a:r>
              <a:rPr lang="en-US" sz="1350" b="1" dirty="0">
                <a:solidFill>
                  <a:srgbClr val="1B2A38"/>
                </a:solidFill>
                <a:latin typeface="Calibri" pitchFamily="34" charset="0"/>
                <a:ea typeface="Calibri" pitchFamily="34" charset="-122"/>
                <a:cs typeface="Calibri" pitchFamily="34" charset="-120"/>
              </a:rPr>
              <a:t>Insights deck (this file)</a:t>
            </a:r>
            <a:endParaRPr lang="en-US" sz="1350" dirty="0"/>
          </a:p>
        </p:txBody>
      </p:sp>
      <p:sp>
        <p:nvSpPr>
          <p:cNvPr id="23" name="Text 21"/>
          <p:cNvSpPr/>
          <p:nvPr/>
        </p:nvSpPr>
        <p:spPr>
          <a:xfrm>
            <a:off x="5303520" y="3813048"/>
            <a:ext cx="6126480" cy="603504"/>
          </a:xfrm>
          <a:prstGeom prst="rect">
            <a:avLst/>
          </a:prstGeom>
          <a:noFill/>
          <a:ln/>
        </p:spPr>
        <p:txBody>
          <a:bodyPr wrap="square" lIns="0" tIns="0" rIns="0" bIns="0" rtlCol="0" anchor="ctr"/>
          <a:lstStyle/>
          <a:p>
            <a:pPr indent="0" marL="0">
              <a:buNone/>
            </a:pPr>
            <a:r>
              <a:rPr lang="en-US" sz="1250" dirty="0">
                <a:solidFill>
                  <a:srgbClr val="0090DA"/>
                </a:solidFill>
                <a:latin typeface="Calibri" pitchFamily="34" charset="0"/>
                <a:ea typeface="Calibri" pitchFamily="34" charset="-122"/>
                <a:cs typeface="Calibri" pitchFamily="34" charset="-120"/>
              </a:rPr>
              <a:t>‹ link or attached file ›</a:t>
            </a:r>
            <a:endParaRPr lang="en-US" sz="1250" dirty="0"/>
          </a:p>
        </p:txBody>
      </p:sp>
      <p:sp>
        <p:nvSpPr>
          <p:cNvPr id="24" name="Shape 22"/>
          <p:cNvSpPr/>
          <p:nvPr/>
        </p:nvSpPr>
        <p:spPr>
          <a:xfrm>
            <a:off x="548640" y="4489704"/>
            <a:ext cx="11109960" cy="603504"/>
          </a:xfrm>
          <a:prstGeom prst="roundRect">
            <a:avLst>
              <a:gd name="adj" fmla="val 9091"/>
            </a:avLst>
          </a:prstGeom>
          <a:solidFill>
            <a:srgbClr val="FFFFFF"/>
          </a:solidFill>
          <a:ln w="12700">
            <a:solidFill>
              <a:srgbClr val="E7EFF5"/>
            </a:solidFill>
            <a:prstDash val="solid"/>
          </a:ln>
        </p:spPr>
      </p:sp>
      <p:sp>
        <p:nvSpPr>
          <p:cNvPr id="25" name="Shape 23"/>
          <p:cNvSpPr/>
          <p:nvPr/>
        </p:nvSpPr>
        <p:spPr>
          <a:xfrm>
            <a:off x="713232" y="4608576"/>
            <a:ext cx="365760" cy="365760"/>
          </a:xfrm>
          <a:prstGeom prst="ellipse">
            <a:avLst/>
          </a:prstGeom>
          <a:solidFill>
            <a:srgbClr val="12283A"/>
          </a:solidFill>
          <a:ln/>
        </p:spPr>
      </p:sp>
      <p:sp>
        <p:nvSpPr>
          <p:cNvPr id="26" name="Text 24"/>
          <p:cNvSpPr/>
          <p:nvPr/>
        </p:nvSpPr>
        <p:spPr>
          <a:xfrm>
            <a:off x="713232" y="4608576"/>
            <a:ext cx="365760" cy="365760"/>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27" name="Text 25"/>
          <p:cNvSpPr/>
          <p:nvPr/>
        </p:nvSpPr>
        <p:spPr>
          <a:xfrm>
            <a:off x="1280160" y="4489704"/>
            <a:ext cx="3931920" cy="603504"/>
          </a:xfrm>
          <a:prstGeom prst="rect">
            <a:avLst/>
          </a:prstGeom>
          <a:noFill/>
          <a:ln/>
        </p:spPr>
        <p:txBody>
          <a:bodyPr wrap="square" lIns="0" tIns="0" rIns="0" bIns="0" rtlCol="0" anchor="ctr"/>
          <a:lstStyle/>
          <a:p>
            <a:pPr indent="0" marL="0">
              <a:buNone/>
            </a:pPr>
            <a:r>
              <a:rPr lang="en-US" sz="1350" b="1" dirty="0">
                <a:solidFill>
                  <a:srgbClr val="1B2A38"/>
                </a:solidFill>
                <a:latin typeface="Calibri" pitchFamily="34" charset="0"/>
                <a:ea typeface="Calibri" pitchFamily="34" charset="-122"/>
                <a:cs typeface="Calibri" pitchFamily="34" charset="-120"/>
              </a:rPr>
              <a:t>Technical / interview guide</a:t>
            </a:r>
            <a:endParaRPr lang="en-US" sz="1350" dirty="0"/>
          </a:p>
        </p:txBody>
      </p:sp>
      <p:sp>
        <p:nvSpPr>
          <p:cNvPr id="28" name="Text 26"/>
          <p:cNvSpPr/>
          <p:nvPr/>
        </p:nvSpPr>
        <p:spPr>
          <a:xfrm>
            <a:off x="5303520" y="4489704"/>
            <a:ext cx="6126480" cy="603504"/>
          </a:xfrm>
          <a:prstGeom prst="rect">
            <a:avLst/>
          </a:prstGeom>
          <a:noFill/>
          <a:ln/>
        </p:spPr>
        <p:txBody>
          <a:bodyPr wrap="square" lIns="0" tIns="0" rIns="0" bIns="0" rtlCol="0" anchor="ctr"/>
          <a:lstStyle/>
          <a:p>
            <a:pPr indent="0" marL="0">
              <a:buNone/>
            </a:pPr>
            <a:r>
              <a:rPr lang="en-US" sz="1250" dirty="0">
                <a:solidFill>
                  <a:srgbClr val="0090DA"/>
                </a:solidFill>
                <a:latin typeface="Calibri" pitchFamily="34" charset="0"/>
                <a:ea typeface="Calibri" pitchFamily="34" charset="-122"/>
                <a:cs typeface="Calibri" pitchFamily="34" charset="-120"/>
              </a:rPr>
              <a:t>‹ link or attached file ›</a:t>
            </a:r>
            <a:endParaRPr lang="en-US" sz="1250" dirty="0"/>
          </a:p>
        </p:txBody>
      </p:sp>
      <p:sp>
        <p:nvSpPr>
          <p:cNvPr id="29" name="Shape 27"/>
          <p:cNvSpPr/>
          <p:nvPr/>
        </p:nvSpPr>
        <p:spPr>
          <a:xfrm>
            <a:off x="548640" y="5166360"/>
            <a:ext cx="11109960" cy="603504"/>
          </a:xfrm>
          <a:prstGeom prst="roundRect">
            <a:avLst>
              <a:gd name="adj" fmla="val 9091"/>
            </a:avLst>
          </a:prstGeom>
          <a:solidFill>
            <a:srgbClr val="FFFFFF"/>
          </a:solidFill>
          <a:ln w="12700">
            <a:solidFill>
              <a:srgbClr val="E7EFF5"/>
            </a:solidFill>
            <a:prstDash val="solid"/>
          </a:ln>
        </p:spPr>
      </p:sp>
      <p:sp>
        <p:nvSpPr>
          <p:cNvPr id="30" name="Shape 28"/>
          <p:cNvSpPr/>
          <p:nvPr/>
        </p:nvSpPr>
        <p:spPr>
          <a:xfrm>
            <a:off x="713232" y="5285232"/>
            <a:ext cx="365760" cy="365760"/>
          </a:xfrm>
          <a:prstGeom prst="ellipse">
            <a:avLst/>
          </a:prstGeom>
          <a:solidFill>
            <a:srgbClr val="0090DA"/>
          </a:solidFill>
          <a:ln/>
        </p:spPr>
      </p:sp>
      <p:sp>
        <p:nvSpPr>
          <p:cNvPr id="31" name="Text 29"/>
          <p:cNvSpPr/>
          <p:nvPr/>
        </p:nvSpPr>
        <p:spPr>
          <a:xfrm>
            <a:off x="713232" y="5285232"/>
            <a:ext cx="365760" cy="365760"/>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32" name="Text 30"/>
          <p:cNvSpPr/>
          <p:nvPr/>
        </p:nvSpPr>
        <p:spPr>
          <a:xfrm>
            <a:off x="1280160" y="5166360"/>
            <a:ext cx="3931920" cy="603504"/>
          </a:xfrm>
          <a:prstGeom prst="rect">
            <a:avLst/>
          </a:prstGeom>
          <a:noFill/>
          <a:ln/>
        </p:spPr>
        <p:txBody>
          <a:bodyPr wrap="square" lIns="0" tIns="0" rIns="0" bIns="0" rtlCol="0" anchor="ctr"/>
          <a:lstStyle/>
          <a:p>
            <a:pPr indent="0" marL="0">
              <a:buNone/>
            </a:pPr>
            <a:r>
              <a:rPr lang="en-US" sz="1350" b="1" dirty="0">
                <a:solidFill>
                  <a:srgbClr val="1B2A38"/>
                </a:solidFill>
                <a:latin typeface="Calibri" pitchFamily="34" charset="0"/>
                <a:ea typeface="Calibri" pitchFamily="34" charset="-122"/>
                <a:cs typeface="Calibri" pitchFamily="34" charset="-120"/>
              </a:rPr>
              <a:t>LinkedIn</a:t>
            </a:r>
            <a:endParaRPr lang="en-US" sz="1350" dirty="0"/>
          </a:p>
        </p:txBody>
      </p:sp>
      <p:sp>
        <p:nvSpPr>
          <p:cNvPr id="33" name="Text 31"/>
          <p:cNvSpPr/>
          <p:nvPr/>
        </p:nvSpPr>
        <p:spPr>
          <a:xfrm>
            <a:off x="5303520" y="5166360"/>
            <a:ext cx="6126480" cy="603504"/>
          </a:xfrm>
          <a:prstGeom prst="rect">
            <a:avLst/>
          </a:prstGeom>
          <a:noFill/>
          <a:ln/>
        </p:spPr>
        <p:txBody>
          <a:bodyPr wrap="square" lIns="0" tIns="0" rIns="0" bIns="0" rtlCol="0" anchor="ctr"/>
          <a:lstStyle/>
          <a:p>
            <a:pPr indent="0" marL="0">
              <a:buNone/>
            </a:pPr>
            <a:r>
              <a:rPr lang="en-US" sz="1250" dirty="0">
                <a:solidFill>
                  <a:srgbClr val="0090DA"/>
                </a:solidFill>
                <a:latin typeface="Calibri" pitchFamily="34" charset="0"/>
                <a:ea typeface="Calibri" pitchFamily="34" charset="-122"/>
                <a:cs typeface="Calibri" pitchFamily="34" charset="-120"/>
              </a:rPr>
              <a:t>linkedin.com/in/pavelbodle</a:t>
            </a:r>
            <a:endParaRPr lang="en-US" sz="1250" dirty="0"/>
          </a:p>
        </p:txBody>
      </p:sp>
      <p:sp>
        <p:nvSpPr>
          <p:cNvPr id="34" name="Shape 32"/>
          <p:cNvSpPr/>
          <p:nvPr/>
        </p:nvSpPr>
        <p:spPr>
          <a:xfrm>
            <a:off x="548640" y="5843016"/>
            <a:ext cx="11109960" cy="603504"/>
          </a:xfrm>
          <a:prstGeom prst="roundRect">
            <a:avLst>
              <a:gd name="adj" fmla="val 9091"/>
            </a:avLst>
          </a:prstGeom>
          <a:solidFill>
            <a:srgbClr val="FFFFFF"/>
          </a:solidFill>
          <a:ln w="12700">
            <a:solidFill>
              <a:srgbClr val="E7EFF5"/>
            </a:solidFill>
            <a:prstDash val="solid"/>
          </a:ln>
        </p:spPr>
      </p:sp>
      <p:sp>
        <p:nvSpPr>
          <p:cNvPr id="35" name="Shape 33"/>
          <p:cNvSpPr/>
          <p:nvPr/>
        </p:nvSpPr>
        <p:spPr>
          <a:xfrm>
            <a:off x="713232" y="5961888"/>
            <a:ext cx="365760" cy="365760"/>
          </a:xfrm>
          <a:prstGeom prst="ellipse">
            <a:avLst/>
          </a:prstGeom>
          <a:solidFill>
            <a:srgbClr val="5B6770"/>
          </a:solidFill>
          <a:ln/>
        </p:spPr>
      </p:sp>
      <p:sp>
        <p:nvSpPr>
          <p:cNvPr id="36" name="Text 34"/>
          <p:cNvSpPr/>
          <p:nvPr/>
        </p:nvSpPr>
        <p:spPr>
          <a:xfrm>
            <a:off x="713232" y="5961888"/>
            <a:ext cx="365760" cy="365760"/>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37" name="Text 35"/>
          <p:cNvSpPr/>
          <p:nvPr/>
        </p:nvSpPr>
        <p:spPr>
          <a:xfrm>
            <a:off x="1280160" y="5843016"/>
            <a:ext cx="3931920" cy="603504"/>
          </a:xfrm>
          <a:prstGeom prst="rect">
            <a:avLst/>
          </a:prstGeom>
          <a:noFill/>
          <a:ln/>
        </p:spPr>
        <p:txBody>
          <a:bodyPr wrap="square" lIns="0" tIns="0" rIns="0" bIns="0" rtlCol="0" anchor="ctr"/>
          <a:lstStyle/>
          <a:p>
            <a:pPr indent="0" marL="0">
              <a:buNone/>
            </a:pPr>
            <a:r>
              <a:rPr lang="en-US" sz="1350" b="1" dirty="0">
                <a:solidFill>
                  <a:srgbClr val="1B2A38"/>
                </a:solidFill>
                <a:latin typeface="Calibri" pitchFamily="34" charset="0"/>
                <a:ea typeface="Calibri" pitchFamily="34" charset="-122"/>
                <a:cs typeface="Calibri" pitchFamily="34" charset="-120"/>
              </a:rPr>
              <a:t>Email</a:t>
            </a:r>
            <a:endParaRPr lang="en-US" sz="1350" dirty="0"/>
          </a:p>
        </p:txBody>
      </p:sp>
      <p:sp>
        <p:nvSpPr>
          <p:cNvPr id="38" name="Text 36"/>
          <p:cNvSpPr/>
          <p:nvPr/>
        </p:nvSpPr>
        <p:spPr>
          <a:xfrm>
            <a:off x="5303520" y="5843016"/>
            <a:ext cx="6126480" cy="603504"/>
          </a:xfrm>
          <a:prstGeom prst="rect">
            <a:avLst/>
          </a:prstGeom>
          <a:noFill/>
          <a:ln/>
        </p:spPr>
        <p:txBody>
          <a:bodyPr wrap="square" lIns="0" tIns="0" rIns="0" bIns="0" rtlCol="0" anchor="ctr"/>
          <a:lstStyle/>
          <a:p>
            <a:pPr indent="0" marL="0">
              <a:buNone/>
            </a:pPr>
            <a:r>
              <a:rPr lang="en-US" sz="1250" dirty="0">
                <a:solidFill>
                  <a:srgbClr val="0090DA"/>
                </a:solidFill>
                <a:latin typeface="Calibri" pitchFamily="34" charset="0"/>
                <a:ea typeface="Calibri" pitchFamily="34" charset="-122"/>
                <a:cs typeface="Calibri" pitchFamily="34" charset="-120"/>
              </a:rPr>
              <a:t>paveliitb@gmail.com</a:t>
            </a:r>
            <a:endParaRPr lang="en-US" sz="1250" dirty="0"/>
          </a:p>
        </p:txBody>
      </p:sp>
      <p:sp>
        <p:nvSpPr>
          <p:cNvPr id="39" name="Text 37"/>
          <p:cNvSpPr/>
          <p:nvPr/>
        </p:nvSpPr>
        <p:spPr>
          <a:xfrm>
            <a:off x="548640" y="6400800"/>
            <a:ext cx="10972800" cy="274320"/>
          </a:xfrm>
          <a:prstGeom prst="rect">
            <a:avLst/>
          </a:prstGeom>
          <a:noFill/>
          <a:ln/>
        </p:spPr>
        <p:txBody>
          <a:bodyPr wrap="square" lIns="0" tIns="0" rIns="0" bIns="0" rtlCol="0" anchor="ctr"/>
          <a:lstStyle/>
          <a:p>
            <a:pPr indent="0" marL="0">
              <a:buNone/>
            </a:pPr>
            <a:r>
              <a:rPr lang="en-US" sz="1000" i="1" dirty="0">
                <a:solidFill>
                  <a:srgbClr val="5B6770"/>
                </a:solidFill>
                <a:latin typeface="Calibri" pitchFamily="34" charset="0"/>
                <a:ea typeface="Calibri" pitchFamily="34" charset="-122"/>
                <a:cs typeface="Calibri" pitchFamily="34" charset="-120"/>
              </a:rPr>
              <a:t>Replace the placeholders above with your live links before presenting.</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2026-08-07T07:49:19Z</dcterms:created>
  <dcterms:modified xsi:type="dcterms:W3CDTF">2026-08-07T07:49:19Z</dcterms:modified>
</cp:coreProperties>
</file>